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3" r:id="rId6"/>
    <p:sldId id="274"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5" r:id="rId21"/>
    <p:sldId id="276"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priya gouda" initials="Sg" lastIdx="1" clrIdx="0">
    <p:extLst>
      <p:ext uri="{19B8F6BF-5375-455C-9EA6-DF929625EA0E}">
        <p15:presenceInfo xmlns:p15="http://schemas.microsoft.com/office/powerpoint/2012/main" userId="3ec8db1bbb539c8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946" y="1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priya gouda" userId="3ec8db1bbb539c8f" providerId="LiveId" clId="{7447F354-DEE6-4BAA-9957-5E3CA87FEC29}"/>
    <pc:docChg chg="undo redo custSel addSld delSld modSld">
      <pc:chgData name="Supriya gouda" userId="3ec8db1bbb539c8f" providerId="LiveId" clId="{7447F354-DEE6-4BAA-9957-5E3CA87FEC29}" dt="2026-03-06T01:54:03.142" v="277" actId="20577"/>
      <pc:docMkLst>
        <pc:docMk/>
      </pc:docMkLst>
      <pc:sldChg chg="delSp modSp mod">
        <pc:chgData name="Supriya gouda" userId="3ec8db1bbb539c8f" providerId="LiveId" clId="{7447F354-DEE6-4BAA-9957-5E3CA87FEC29}" dt="2026-03-05T18:38:39" v="258" actId="1076"/>
        <pc:sldMkLst>
          <pc:docMk/>
          <pc:sldMk cId="0" sldId="256"/>
        </pc:sldMkLst>
        <pc:spChg chg="mod">
          <ac:chgData name="Supriya gouda" userId="3ec8db1bbb539c8f" providerId="LiveId" clId="{7447F354-DEE6-4BAA-9957-5E3CA87FEC29}" dt="2026-03-05T18:38:39" v="258" actId="1076"/>
          <ac:spMkLst>
            <pc:docMk/>
            <pc:sldMk cId="0" sldId="256"/>
            <ac:spMk id="10" creationId="{5AB29A6B-17C2-F067-5BD0-6E18C2AD5041}"/>
          </ac:spMkLst>
        </pc:spChg>
        <pc:spChg chg="del mod">
          <ac:chgData name="Supriya gouda" userId="3ec8db1bbb539c8f" providerId="LiveId" clId="{7447F354-DEE6-4BAA-9957-5E3CA87FEC29}" dt="2026-03-05T18:38:34.581" v="257" actId="478"/>
          <ac:spMkLst>
            <pc:docMk/>
            <pc:sldMk cId="0" sldId="256"/>
            <ac:spMk id="11" creationId="{F9478E1B-50AE-E155-7F05-C8ED0138BEDD}"/>
          </ac:spMkLst>
        </pc:spChg>
      </pc:sldChg>
      <pc:sldChg chg="modTransition">
        <pc:chgData name="Supriya gouda" userId="3ec8db1bbb539c8f" providerId="LiveId" clId="{7447F354-DEE6-4BAA-9957-5E3CA87FEC29}" dt="2026-03-05T18:26:18.817" v="227"/>
        <pc:sldMkLst>
          <pc:docMk/>
          <pc:sldMk cId="0" sldId="261"/>
        </pc:sldMkLst>
      </pc:sldChg>
      <pc:sldChg chg="modSp mod modTransition">
        <pc:chgData name="Supriya gouda" userId="3ec8db1bbb539c8f" providerId="LiveId" clId="{7447F354-DEE6-4BAA-9957-5E3CA87FEC29}" dt="2026-03-05T18:31:59.036" v="253"/>
        <pc:sldMkLst>
          <pc:docMk/>
          <pc:sldMk cId="0" sldId="262"/>
        </pc:sldMkLst>
        <pc:picChg chg="mod">
          <ac:chgData name="Supriya gouda" userId="3ec8db1bbb539c8f" providerId="LiveId" clId="{7447F354-DEE6-4BAA-9957-5E3CA87FEC29}" dt="2026-03-05T18:26:21.156" v="230" actId="14100"/>
          <ac:picMkLst>
            <pc:docMk/>
            <pc:sldMk cId="0" sldId="262"/>
            <ac:picMk id="12" creationId="{15A3BA96-2DE0-3970-40A7-39736D83BD82}"/>
          </ac:picMkLst>
        </pc:picChg>
      </pc:sldChg>
      <pc:sldChg chg="modTransition">
        <pc:chgData name="Supriya gouda" userId="3ec8db1bbb539c8f" providerId="LiveId" clId="{7447F354-DEE6-4BAA-9957-5E3CA87FEC29}" dt="2026-03-05T18:26:17.935" v="226"/>
        <pc:sldMkLst>
          <pc:docMk/>
          <pc:sldMk cId="0" sldId="263"/>
        </pc:sldMkLst>
      </pc:sldChg>
      <pc:sldChg chg="addSp delSp modSp mod">
        <pc:chgData name="Supriya gouda" userId="3ec8db1bbb539c8f" providerId="LiveId" clId="{7447F354-DEE6-4BAA-9957-5E3CA87FEC29}" dt="2026-03-05T17:27:27.621" v="83" actId="1076"/>
        <pc:sldMkLst>
          <pc:docMk/>
          <pc:sldMk cId="0" sldId="264"/>
        </pc:sldMkLst>
        <pc:picChg chg="add del mod">
          <ac:chgData name="Supriya gouda" userId="3ec8db1bbb539c8f" providerId="LiveId" clId="{7447F354-DEE6-4BAA-9957-5E3CA87FEC29}" dt="2026-03-05T17:27:20.058" v="81" actId="478"/>
          <ac:picMkLst>
            <pc:docMk/>
            <pc:sldMk cId="0" sldId="264"/>
            <ac:picMk id="7" creationId="{345943D4-F06D-520A-9F6B-8221B9BF27CC}"/>
          </ac:picMkLst>
        </pc:picChg>
        <pc:picChg chg="add mod">
          <ac:chgData name="Supriya gouda" userId="3ec8db1bbb539c8f" providerId="LiveId" clId="{7447F354-DEE6-4BAA-9957-5E3CA87FEC29}" dt="2026-03-05T17:27:27.621" v="83" actId="1076"/>
          <ac:picMkLst>
            <pc:docMk/>
            <pc:sldMk cId="0" sldId="264"/>
            <ac:picMk id="9" creationId="{D410848A-1F60-1B3F-54A9-F0E2A3C9064F}"/>
          </ac:picMkLst>
        </pc:picChg>
      </pc:sldChg>
      <pc:sldChg chg="addSp delSp modSp mod">
        <pc:chgData name="Supriya gouda" userId="3ec8db1bbb539c8f" providerId="LiveId" clId="{7447F354-DEE6-4BAA-9957-5E3CA87FEC29}" dt="2026-03-05T18:31:17.355" v="247" actId="1076"/>
        <pc:sldMkLst>
          <pc:docMk/>
          <pc:sldMk cId="0" sldId="265"/>
        </pc:sldMkLst>
        <pc:spChg chg="mod">
          <ac:chgData name="Supriya gouda" userId="3ec8db1bbb539c8f" providerId="LiveId" clId="{7447F354-DEE6-4BAA-9957-5E3CA87FEC29}" dt="2026-03-05T18:31:17.355" v="247" actId="1076"/>
          <ac:spMkLst>
            <pc:docMk/>
            <pc:sldMk cId="0" sldId="265"/>
            <ac:spMk id="2" creationId="{00000000-0000-0000-0000-000000000000}"/>
          </ac:spMkLst>
        </pc:spChg>
        <pc:spChg chg="add">
          <ac:chgData name="Supriya gouda" userId="3ec8db1bbb539c8f" providerId="LiveId" clId="{7447F354-DEE6-4BAA-9957-5E3CA87FEC29}" dt="2026-03-05T18:30:41.309" v="236"/>
          <ac:spMkLst>
            <pc:docMk/>
            <pc:sldMk cId="0" sldId="265"/>
            <ac:spMk id="7" creationId="{77DA9527-BC9E-616A-1CA4-6C5F55316004}"/>
          </ac:spMkLst>
        </pc:spChg>
        <pc:picChg chg="add del">
          <ac:chgData name="Supriya gouda" userId="3ec8db1bbb539c8f" providerId="LiveId" clId="{7447F354-DEE6-4BAA-9957-5E3CA87FEC29}" dt="2026-03-05T18:30:46.307" v="238" actId="21"/>
          <ac:picMkLst>
            <pc:docMk/>
            <pc:sldMk cId="0" sldId="265"/>
            <ac:picMk id="8" creationId="{BAAD29B9-34A7-2E4B-64F3-CAEA3320FBEE}"/>
          </ac:picMkLst>
        </pc:picChg>
        <pc:picChg chg="add mod">
          <ac:chgData name="Supriya gouda" userId="3ec8db1bbb539c8f" providerId="LiveId" clId="{7447F354-DEE6-4BAA-9957-5E3CA87FEC29}" dt="2026-03-05T18:31:08.451" v="245" actId="1076"/>
          <ac:picMkLst>
            <pc:docMk/>
            <pc:sldMk cId="0" sldId="265"/>
            <ac:picMk id="9" creationId="{BAAD29B9-34A7-2E4B-64F3-CAEA3320FBEE}"/>
          </ac:picMkLst>
        </pc:picChg>
      </pc:sldChg>
      <pc:sldChg chg="addSp delSp modSp mod">
        <pc:chgData name="Supriya gouda" userId="3ec8db1bbb539c8f" providerId="LiveId" clId="{7447F354-DEE6-4BAA-9957-5E3CA87FEC29}" dt="2026-03-05T17:10:57.744" v="77" actId="20577"/>
        <pc:sldMkLst>
          <pc:docMk/>
          <pc:sldMk cId="0" sldId="270"/>
        </pc:sldMkLst>
        <pc:spChg chg="del">
          <ac:chgData name="Supriya gouda" userId="3ec8db1bbb539c8f" providerId="LiveId" clId="{7447F354-DEE6-4BAA-9957-5E3CA87FEC29}" dt="2026-03-05T17:04:29.818" v="0" actId="478"/>
          <ac:spMkLst>
            <pc:docMk/>
            <pc:sldMk cId="0" sldId="270"/>
            <ac:spMk id="2" creationId="{00000000-0000-0000-0000-000000000000}"/>
          </ac:spMkLst>
        </pc:spChg>
        <pc:spChg chg="add">
          <ac:chgData name="Supriya gouda" userId="3ec8db1bbb539c8f" providerId="LiveId" clId="{7447F354-DEE6-4BAA-9957-5E3CA87FEC29}" dt="2026-03-05T17:04:31.615" v="1"/>
          <ac:spMkLst>
            <pc:docMk/>
            <pc:sldMk cId="0" sldId="270"/>
            <ac:spMk id="7" creationId="{012B3E47-624A-3FA7-F3B6-BD7E8D56748B}"/>
          </ac:spMkLst>
        </pc:spChg>
        <pc:spChg chg="add">
          <ac:chgData name="Supriya gouda" userId="3ec8db1bbb539c8f" providerId="LiveId" clId="{7447F354-DEE6-4BAA-9957-5E3CA87FEC29}" dt="2026-03-05T17:05:16.183" v="7"/>
          <ac:spMkLst>
            <pc:docMk/>
            <pc:sldMk cId="0" sldId="270"/>
            <ac:spMk id="9" creationId="{4488FD8A-10E7-5B13-ADB4-5DACF0B1B2B4}"/>
          </ac:spMkLst>
        </pc:spChg>
        <pc:spChg chg="add mod">
          <ac:chgData name="Supriya gouda" userId="3ec8db1bbb539c8f" providerId="LiveId" clId="{7447F354-DEE6-4BAA-9957-5E3CA87FEC29}" dt="2026-03-05T17:10:50.311" v="75" actId="20577"/>
          <ac:spMkLst>
            <pc:docMk/>
            <pc:sldMk cId="0" sldId="270"/>
            <ac:spMk id="10" creationId="{81F88CCA-48B6-7F3F-05E5-A45C9E48B74E}"/>
          </ac:spMkLst>
        </pc:spChg>
        <pc:spChg chg="add">
          <ac:chgData name="Supriya gouda" userId="3ec8db1bbb539c8f" providerId="LiveId" clId="{7447F354-DEE6-4BAA-9957-5E3CA87FEC29}" dt="2026-03-05T17:08:02.920" v="42"/>
          <ac:spMkLst>
            <pc:docMk/>
            <pc:sldMk cId="0" sldId="270"/>
            <ac:spMk id="11" creationId="{F548B4EE-7AF5-4B27-C346-B2F560FB863A}"/>
          </ac:spMkLst>
        </pc:spChg>
        <pc:spChg chg="add mod">
          <ac:chgData name="Supriya gouda" userId="3ec8db1bbb539c8f" providerId="LiveId" clId="{7447F354-DEE6-4BAA-9957-5E3CA87FEC29}" dt="2026-03-05T17:10:57.744" v="77" actId="20577"/>
          <ac:spMkLst>
            <pc:docMk/>
            <pc:sldMk cId="0" sldId="270"/>
            <ac:spMk id="12" creationId="{DF016C50-0DB5-1044-A921-F8CC276FC2BA}"/>
          </ac:spMkLst>
        </pc:spChg>
        <pc:spChg chg="add">
          <ac:chgData name="Supriya gouda" userId="3ec8db1bbb539c8f" providerId="LiveId" clId="{7447F354-DEE6-4BAA-9957-5E3CA87FEC29}" dt="2026-03-05T17:09:42.863" v="58"/>
          <ac:spMkLst>
            <pc:docMk/>
            <pc:sldMk cId="0" sldId="270"/>
            <ac:spMk id="13" creationId="{5893A062-0062-51A1-6992-32DE82C12BD2}"/>
          </ac:spMkLst>
        </pc:spChg>
        <pc:picChg chg="add mod">
          <ac:chgData name="Supriya gouda" userId="3ec8db1bbb539c8f" providerId="LiveId" clId="{7447F354-DEE6-4BAA-9957-5E3CA87FEC29}" dt="2026-03-05T17:04:43.282" v="6" actId="1076"/>
          <ac:picMkLst>
            <pc:docMk/>
            <pc:sldMk cId="0" sldId="270"/>
            <ac:picMk id="8" creationId="{2790B87B-B66D-86A7-867B-901E2D898147}"/>
          </ac:picMkLst>
        </pc:picChg>
      </pc:sldChg>
      <pc:sldChg chg="addSp delSp modSp mod">
        <pc:chgData name="Supriya gouda" userId="3ec8db1bbb539c8f" providerId="LiveId" clId="{7447F354-DEE6-4BAA-9957-5E3CA87FEC29}" dt="2026-03-05T18:19:54.669" v="216" actId="20577"/>
        <pc:sldMkLst>
          <pc:docMk/>
          <pc:sldMk cId="0" sldId="272"/>
        </pc:sldMkLst>
        <pc:spChg chg="add del mod">
          <ac:chgData name="Supriya gouda" userId="3ec8db1bbb539c8f" providerId="LiveId" clId="{7447F354-DEE6-4BAA-9957-5E3CA87FEC29}" dt="2026-03-05T18:19:54.669" v="216" actId="20577"/>
          <ac:spMkLst>
            <pc:docMk/>
            <pc:sldMk cId="0" sldId="272"/>
            <ac:spMk id="2" creationId="{00000000-0000-0000-0000-000000000000}"/>
          </ac:spMkLst>
        </pc:spChg>
      </pc:sldChg>
      <pc:sldChg chg="modSp mod">
        <pc:chgData name="Supriya gouda" userId="3ec8db1bbb539c8f" providerId="LiveId" clId="{7447F354-DEE6-4BAA-9957-5E3CA87FEC29}" dt="2026-03-06T01:53:46.585" v="276" actId="20577"/>
        <pc:sldMkLst>
          <pc:docMk/>
          <pc:sldMk cId="992748048" sldId="273"/>
        </pc:sldMkLst>
        <pc:graphicFrameChg chg="modGraphic">
          <ac:chgData name="Supriya gouda" userId="3ec8db1bbb539c8f" providerId="LiveId" clId="{7447F354-DEE6-4BAA-9957-5E3CA87FEC29}" dt="2026-03-06T01:53:46.585" v="276" actId="20577"/>
          <ac:graphicFrameMkLst>
            <pc:docMk/>
            <pc:sldMk cId="992748048" sldId="273"/>
            <ac:graphicFrameMk id="2" creationId="{A1DA7951-0C5B-40F4-67D3-E17C19B8CA9D}"/>
          </ac:graphicFrameMkLst>
        </pc:graphicFrameChg>
      </pc:sldChg>
      <pc:sldChg chg="modSp mod">
        <pc:chgData name="Supriya gouda" userId="3ec8db1bbb539c8f" providerId="LiveId" clId="{7447F354-DEE6-4BAA-9957-5E3CA87FEC29}" dt="2026-03-06T01:54:03.142" v="277" actId="20577"/>
        <pc:sldMkLst>
          <pc:docMk/>
          <pc:sldMk cId="2815392325" sldId="274"/>
        </pc:sldMkLst>
        <pc:graphicFrameChg chg="modGraphic">
          <ac:chgData name="Supriya gouda" userId="3ec8db1bbb539c8f" providerId="LiveId" clId="{7447F354-DEE6-4BAA-9957-5E3CA87FEC29}" dt="2026-03-06T01:54:03.142" v="277" actId="20577"/>
          <ac:graphicFrameMkLst>
            <pc:docMk/>
            <pc:sldMk cId="2815392325" sldId="274"/>
            <ac:graphicFrameMk id="7" creationId="{6986D217-D29D-17F5-7BE9-69C965F7A020}"/>
          </ac:graphicFrameMkLst>
        </pc:graphicFrameChg>
      </pc:sldChg>
      <pc:sldChg chg="modSp add mod">
        <pc:chgData name="Supriya gouda" userId="3ec8db1bbb539c8f" providerId="LiveId" clId="{7447F354-DEE6-4BAA-9957-5E3CA87FEC29}" dt="2026-03-05T18:17:53.416" v="183" actId="6549"/>
        <pc:sldMkLst>
          <pc:docMk/>
          <pc:sldMk cId="2450452305" sldId="275"/>
        </pc:sldMkLst>
        <pc:spChg chg="mod">
          <ac:chgData name="Supriya gouda" userId="3ec8db1bbb539c8f" providerId="LiveId" clId="{7447F354-DEE6-4BAA-9957-5E3CA87FEC29}" dt="2026-03-05T18:17:53.416" v="183" actId="6549"/>
          <ac:spMkLst>
            <pc:docMk/>
            <pc:sldMk cId="2450452305" sldId="275"/>
            <ac:spMk id="2" creationId="{4623EA28-4A47-CC29-16A4-BBE615766528}"/>
          </ac:spMkLst>
        </pc:spChg>
      </pc:sldChg>
      <pc:sldChg chg="addSp modSp add del mod">
        <pc:chgData name="Supriya gouda" userId="3ec8db1bbb539c8f" providerId="LiveId" clId="{7447F354-DEE6-4BAA-9957-5E3CA87FEC29}" dt="2026-03-05T18:15:44.045" v="159" actId="2890"/>
        <pc:sldMkLst>
          <pc:docMk/>
          <pc:sldMk cId="3216347489" sldId="275"/>
        </pc:sldMkLst>
        <pc:spChg chg="mod">
          <ac:chgData name="Supriya gouda" userId="3ec8db1bbb539c8f" providerId="LiveId" clId="{7447F354-DEE6-4BAA-9957-5E3CA87FEC29}" dt="2026-03-05T18:15:43.511" v="158"/>
          <ac:spMkLst>
            <pc:docMk/>
            <pc:sldMk cId="3216347489" sldId="275"/>
            <ac:spMk id="2" creationId="{A85D14B6-3A3E-8738-B655-CE51465A0C42}"/>
          </ac:spMkLst>
        </pc:spChg>
        <pc:spChg chg="add mod">
          <ac:chgData name="Supriya gouda" userId="3ec8db1bbb539c8f" providerId="LiveId" clId="{7447F354-DEE6-4BAA-9957-5E3CA87FEC29}" dt="2026-03-05T18:15:41.650" v="155"/>
          <ac:spMkLst>
            <pc:docMk/>
            <pc:sldMk cId="3216347489" sldId="275"/>
            <ac:spMk id="7" creationId="{AFD2C08C-DEAC-280E-D609-FC3BD08FF9F3}"/>
          </ac:spMkLst>
        </pc:spChg>
      </pc:sldChg>
      <pc:sldChg chg="modSp add mod">
        <pc:chgData name="Supriya gouda" userId="3ec8db1bbb539c8f" providerId="LiveId" clId="{7447F354-DEE6-4BAA-9957-5E3CA87FEC29}" dt="2026-03-05T18:18:07.653" v="186" actId="6549"/>
        <pc:sldMkLst>
          <pc:docMk/>
          <pc:sldMk cId="2372105748" sldId="276"/>
        </pc:sldMkLst>
        <pc:spChg chg="mod">
          <ac:chgData name="Supriya gouda" userId="3ec8db1bbb539c8f" providerId="LiveId" clId="{7447F354-DEE6-4BAA-9957-5E3CA87FEC29}" dt="2026-03-05T18:18:07.653" v="186" actId="6549"/>
          <ac:spMkLst>
            <pc:docMk/>
            <pc:sldMk cId="2372105748" sldId="276"/>
            <ac:spMk id="2" creationId="{EC46E2F9-E27A-5315-205D-64896F1E7F72}"/>
          </ac:spMkLst>
        </pc:spChg>
      </pc:sldChg>
      <pc:sldChg chg="modSp add del mod">
        <pc:chgData name="Supriya gouda" userId="3ec8db1bbb539c8f" providerId="LiveId" clId="{7447F354-DEE6-4BAA-9957-5E3CA87FEC29}" dt="2026-03-05T18:37:19.895" v="254" actId="47"/>
        <pc:sldMkLst>
          <pc:docMk/>
          <pc:sldMk cId="999900258" sldId="277"/>
        </pc:sldMkLst>
        <pc:picChg chg="mod">
          <ac:chgData name="Supriya gouda" userId="3ec8db1bbb539c8f" providerId="LiveId" clId="{7447F354-DEE6-4BAA-9957-5E3CA87FEC29}" dt="2026-03-05T18:26:55.113" v="233" actId="14100"/>
          <ac:picMkLst>
            <pc:docMk/>
            <pc:sldMk cId="999900258" sldId="277"/>
            <ac:picMk id="12" creationId="{6156D879-FFAB-67F5-99A1-F59DB8C63721}"/>
          </ac:picMkLst>
        </pc:picChg>
      </pc:sldChg>
      <pc:sldChg chg="modSp add del mod modTransition">
        <pc:chgData name="Supriya gouda" userId="3ec8db1bbb539c8f" providerId="LiveId" clId="{7447F354-DEE6-4BAA-9957-5E3CA87FEC29}" dt="2026-03-05T18:37:23.808" v="255" actId="47"/>
        <pc:sldMkLst>
          <pc:docMk/>
          <pc:sldMk cId="1353800200" sldId="278"/>
        </pc:sldMkLst>
        <pc:picChg chg="mod">
          <ac:chgData name="Supriya gouda" userId="3ec8db1bbb539c8f" providerId="LiveId" clId="{7447F354-DEE6-4BAA-9957-5E3CA87FEC29}" dt="2026-03-05T18:31:34.714" v="251" actId="1076"/>
          <ac:picMkLst>
            <pc:docMk/>
            <pc:sldMk cId="1353800200" sldId="278"/>
            <ac:picMk id="9" creationId="{3C89030F-DBD5-5003-0F4A-1699AB8BB0B3}"/>
          </ac:picMkLst>
        </pc:picChg>
      </pc:sldChg>
      <pc:sldChg chg="add del">
        <pc:chgData name="Supriya gouda" userId="3ec8db1bbb539c8f" providerId="LiveId" clId="{7447F354-DEE6-4BAA-9957-5E3CA87FEC29}" dt="2026-03-05T18:30:51.979" v="239" actId="47"/>
        <pc:sldMkLst>
          <pc:docMk/>
          <pc:sldMk cId="1748776980"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BMSIT&amp;M, </a:t>
            </a:r>
            <a:r>
              <a:rPr spc="-2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6/3/2026</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BMSIT&amp;M, </a:t>
            </a:r>
            <a:r>
              <a:rPr spc="-2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6/3/2026</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BMSIT&amp;M, </a:t>
            </a:r>
            <a:r>
              <a:rPr spc="-25" dirty="0"/>
              <a:t>CSE</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6/3/2026</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BMSIT&amp;M, </a:t>
            </a:r>
            <a:r>
              <a:rPr spc="-25" dirty="0"/>
              <a:t>CSE</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6/3/2026</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BMSIT&amp;M, </a:t>
            </a:r>
            <a:r>
              <a:rPr spc="-25" dirty="0"/>
              <a:t>CSE</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6/3/2026</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3479" y="27646"/>
            <a:ext cx="1247113" cy="1086451"/>
          </a:xfrm>
          <a:prstGeom prst="rect">
            <a:avLst/>
          </a:prstGeom>
        </p:spPr>
      </p:pic>
      <p:pic>
        <p:nvPicPr>
          <p:cNvPr id="17" name="bg object 17"/>
          <p:cNvPicPr/>
          <p:nvPr/>
        </p:nvPicPr>
        <p:blipFill>
          <a:blip r:embed="rId8" cstate="print"/>
          <a:stretch>
            <a:fillRect/>
          </a:stretch>
        </p:blipFill>
        <p:spPr>
          <a:xfrm>
            <a:off x="10942103" y="41470"/>
            <a:ext cx="1249896" cy="1267125"/>
          </a:xfrm>
          <a:prstGeom prst="rect">
            <a:avLst/>
          </a:prstGeom>
        </p:spPr>
      </p:pic>
      <p:sp>
        <p:nvSpPr>
          <p:cNvPr id="2" name="Holder 2"/>
          <p:cNvSpPr>
            <a:spLocks noGrp="1"/>
          </p:cNvSpPr>
          <p:nvPr>
            <p:ph type="title"/>
          </p:nvPr>
        </p:nvSpPr>
        <p:spPr>
          <a:xfrm>
            <a:off x="1753142" y="128355"/>
            <a:ext cx="8011795" cy="112268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602105" y="3101656"/>
            <a:ext cx="6184900" cy="177101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545547" y="6445272"/>
            <a:ext cx="110109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dirty="0"/>
              <a:t>BMSIT&amp;M, </a:t>
            </a:r>
            <a:r>
              <a:rPr spc="-25" dirty="0"/>
              <a:t>CSE</a:t>
            </a:r>
          </a:p>
        </p:txBody>
      </p:sp>
      <p:sp>
        <p:nvSpPr>
          <p:cNvPr id="5" name="Holder 5"/>
          <p:cNvSpPr>
            <a:spLocks noGrp="1"/>
          </p:cNvSpPr>
          <p:nvPr>
            <p:ph type="dt" sz="half" idx="6"/>
          </p:nvPr>
        </p:nvSpPr>
        <p:spPr>
          <a:xfrm>
            <a:off x="682625" y="6445272"/>
            <a:ext cx="56769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10" dirty="0"/>
              <a:t>6/3/2026</a:t>
            </a:r>
          </a:p>
        </p:txBody>
      </p:sp>
      <p:sp>
        <p:nvSpPr>
          <p:cNvPr id="6" name="Holder 6"/>
          <p:cNvSpPr>
            <a:spLocks noGrp="1"/>
          </p:cNvSpPr>
          <p:nvPr>
            <p:ph type="sldNum" sz="quarter" idx="7"/>
          </p:nvPr>
        </p:nvSpPr>
        <p:spPr>
          <a:xfrm>
            <a:off x="11331575" y="6445272"/>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1975123"/>
            <a:ext cx="7988639" cy="443711"/>
          </a:xfrm>
          <a:prstGeom prst="rect">
            <a:avLst/>
          </a:prstGeom>
        </p:spPr>
        <p:txBody>
          <a:bodyPr vert="horz" wrap="square" lIns="0" tIns="12700" rIns="0" bIns="0" rtlCol="0">
            <a:spAutoFit/>
          </a:bodyPr>
          <a:lstStyle/>
          <a:p>
            <a:pPr marL="2231390" marR="5080" indent="-2219325">
              <a:lnSpc>
                <a:spcPct val="100000"/>
              </a:lnSpc>
              <a:spcBef>
                <a:spcPts val="100"/>
              </a:spcBef>
            </a:pPr>
            <a:r>
              <a:rPr sz="2800" b="1" dirty="0">
                <a:solidFill>
                  <a:srgbClr val="244061"/>
                </a:solidFill>
                <a:latin typeface="Times New Roman"/>
                <a:cs typeface="Times New Roman"/>
              </a:rPr>
              <a:t>Department</a:t>
            </a:r>
            <a:r>
              <a:rPr sz="2800" b="1" spc="-45" dirty="0">
                <a:solidFill>
                  <a:srgbClr val="244061"/>
                </a:solidFill>
                <a:latin typeface="Times New Roman"/>
                <a:cs typeface="Times New Roman"/>
              </a:rPr>
              <a:t> </a:t>
            </a:r>
            <a:r>
              <a:rPr sz="2800" b="1" dirty="0">
                <a:solidFill>
                  <a:srgbClr val="244061"/>
                </a:solidFill>
                <a:latin typeface="Times New Roman"/>
                <a:cs typeface="Times New Roman"/>
              </a:rPr>
              <a:t>of</a:t>
            </a:r>
            <a:r>
              <a:rPr sz="2800" b="1" spc="-40" dirty="0">
                <a:solidFill>
                  <a:srgbClr val="244061"/>
                </a:solidFill>
                <a:latin typeface="Times New Roman"/>
                <a:cs typeface="Times New Roman"/>
              </a:rPr>
              <a:t> </a:t>
            </a:r>
            <a:r>
              <a:rPr lang="en-IN" sz="2800" b="1" dirty="0">
                <a:solidFill>
                  <a:srgbClr val="244061"/>
                </a:solidFill>
                <a:latin typeface="Times New Roman"/>
                <a:cs typeface="Times New Roman"/>
              </a:rPr>
              <a:t>Information</a:t>
            </a:r>
            <a:r>
              <a:rPr sz="2800" b="1" spc="-105" dirty="0">
                <a:solidFill>
                  <a:srgbClr val="244061"/>
                </a:solidFill>
                <a:latin typeface="Times New Roman"/>
                <a:cs typeface="Times New Roman"/>
              </a:rPr>
              <a:t> </a:t>
            </a:r>
            <a:r>
              <a:rPr sz="2800" b="1" dirty="0">
                <a:solidFill>
                  <a:srgbClr val="244061"/>
                </a:solidFill>
                <a:latin typeface="Times New Roman"/>
                <a:cs typeface="Times New Roman"/>
              </a:rPr>
              <a:t>Science</a:t>
            </a:r>
            <a:r>
              <a:rPr sz="2800" b="1" spc="-50" dirty="0">
                <a:solidFill>
                  <a:srgbClr val="244061"/>
                </a:solidFill>
                <a:latin typeface="Times New Roman"/>
                <a:cs typeface="Times New Roman"/>
              </a:rPr>
              <a:t> </a:t>
            </a:r>
            <a:r>
              <a:rPr sz="2800" b="1" spc="-25" dirty="0">
                <a:solidFill>
                  <a:srgbClr val="244061"/>
                </a:solidFill>
                <a:latin typeface="Times New Roman"/>
                <a:cs typeface="Times New Roman"/>
              </a:rPr>
              <a:t>and</a:t>
            </a:r>
            <a:r>
              <a:rPr lang="en-IN" sz="2800" b="1" spc="-25" dirty="0">
                <a:solidFill>
                  <a:srgbClr val="244061"/>
                </a:solidFill>
                <a:latin typeface="Times New Roman"/>
                <a:cs typeface="Times New Roman"/>
              </a:rPr>
              <a:t> </a:t>
            </a:r>
            <a:r>
              <a:rPr sz="2800" b="1" spc="-10" dirty="0">
                <a:solidFill>
                  <a:srgbClr val="244061"/>
                </a:solidFill>
                <a:latin typeface="Times New Roman"/>
                <a:cs typeface="Times New Roman"/>
              </a:rPr>
              <a:t>Engineering</a:t>
            </a:r>
            <a:endParaRPr sz="2800" dirty="0">
              <a:latin typeface="Times New Roman"/>
              <a:cs typeface="Times New Roman"/>
            </a:endParaRPr>
          </a:p>
        </p:txBody>
      </p:sp>
      <p:sp>
        <p:nvSpPr>
          <p:cNvPr id="3" name="object 3"/>
          <p:cNvSpPr txBox="1"/>
          <p:nvPr/>
        </p:nvSpPr>
        <p:spPr>
          <a:xfrm>
            <a:off x="3810000" y="2474748"/>
            <a:ext cx="4648200" cy="945387"/>
          </a:xfrm>
          <a:prstGeom prst="rect">
            <a:avLst/>
          </a:prstGeom>
        </p:spPr>
        <p:txBody>
          <a:bodyPr vert="horz" wrap="square" lIns="0" tIns="12700" rIns="0" bIns="0" rtlCol="0">
            <a:spAutoFit/>
          </a:bodyPr>
          <a:lstStyle/>
          <a:p>
            <a:pPr marL="12700" algn="ctr">
              <a:lnSpc>
                <a:spcPct val="150000"/>
              </a:lnSpc>
              <a:spcBef>
                <a:spcPts val="100"/>
              </a:spcBef>
            </a:pPr>
            <a:r>
              <a:rPr sz="2400" b="1" dirty="0">
                <a:solidFill>
                  <a:srgbClr val="953734"/>
                </a:solidFill>
                <a:latin typeface="Times New Roman"/>
                <a:cs typeface="Times New Roman"/>
              </a:rPr>
              <a:t>Major</a:t>
            </a:r>
            <a:r>
              <a:rPr sz="2400" b="1" spc="-75" dirty="0">
                <a:solidFill>
                  <a:srgbClr val="953734"/>
                </a:solidFill>
                <a:latin typeface="Times New Roman"/>
                <a:cs typeface="Times New Roman"/>
              </a:rPr>
              <a:t> </a:t>
            </a:r>
            <a:r>
              <a:rPr sz="2400" b="1" dirty="0">
                <a:solidFill>
                  <a:srgbClr val="953734"/>
                </a:solidFill>
                <a:latin typeface="Times New Roman"/>
                <a:cs typeface="Times New Roman"/>
              </a:rPr>
              <a:t>Project</a:t>
            </a:r>
            <a:r>
              <a:rPr sz="2400" b="1" spc="-20" dirty="0">
                <a:solidFill>
                  <a:srgbClr val="953734"/>
                </a:solidFill>
                <a:latin typeface="Times New Roman"/>
                <a:cs typeface="Times New Roman"/>
              </a:rPr>
              <a:t> </a:t>
            </a:r>
            <a:r>
              <a:rPr sz="2400" b="1" dirty="0">
                <a:solidFill>
                  <a:srgbClr val="953734"/>
                </a:solidFill>
                <a:latin typeface="Times New Roman"/>
                <a:cs typeface="Times New Roman"/>
              </a:rPr>
              <a:t>–</a:t>
            </a:r>
            <a:r>
              <a:rPr sz="2400" b="1" spc="-20" dirty="0">
                <a:solidFill>
                  <a:srgbClr val="953734"/>
                </a:solidFill>
                <a:latin typeface="Times New Roman"/>
                <a:cs typeface="Times New Roman"/>
              </a:rPr>
              <a:t> </a:t>
            </a:r>
            <a:r>
              <a:rPr sz="2400" b="1" dirty="0">
                <a:solidFill>
                  <a:srgbClr val="953734"/>
                </a:solidFill>
                <a:latin typeface="Times New Roman"/>
                <a:cs typeface="Times New Roman"/>
              </a:rPr>
              <a:t>Phase</a:t>
            </a:r>
            <a:r>
              <a:rPr sz="2400" b="1" spc="-25" dirty="0">
                <a:solidFill>
                  <a:srgbClr val="953734"/>
                </a:solidFill>
                <a:latin typeface="Times New Roman"/>
                <a:cs typeface="Times New Roman"/>
              </a:rPr>
              <a:t> </a:t>
            </a:r>
            <a:r>
              <a:rPr sz="2400" b="1" dirty="0">
                <a:solidFill>
                  <a:srgbClr val="953734"/>
                </a:solidFill>
                <a:latin typeface="Times New Roman"/>
                <a:cs typeface="Times New Roman"/>
              </a:rPr>
              <a:t>1</a:t>
            </a:r>
            <a:r>
              <a:rPr sz="2400" b="1" spc="-20" dirty="0">
                <a:solidFill>
                  <a:srgbClr val="953734"/>
                </a:solidFill>
                <a:latin typeface="Times New Roman"/>
                <a:cs typeface="Times New Roman"/>
              </a:rPr>
              <a:t> </a:t>
            </a:r>
            <a:r>
              <a:rPr sz="2400" b="1" dirty="0">
                <a:solidFill>
                  <a:srgbClr val="953734"/>
                </a:solidFill>
                <a:latin typeface="Times New Roman"/>
                <a:cs typeface="Times New Roman"/>
              </a:rPr>
              <a:t>-</a:t>
            </a:r>
            <a:r>
              <a:rPr sz="2400" b="1" spc="-20" dirty="0">
                <a:solidFill>
                  <a:srgbClr val="953734"/>
                </a:solidFill>
                <a:latin typeface="Times New Roman"/>
                <a:cs typeface="Times New Roman"/>
              </a:rPr>
              <a:t> </a:t>
            </a:r>
            <a:r>
              <a:rPr sz="2400" b="1" dirty="0">
                <a:solidFill>
                  <a:srgbClr val="953734"/>
                </a:solidFill>
                <a:latin typeface="Times New Roman"/>
                <a:cs typeface="Times New Roman"/>
              </a:rPr>
              <a:t>Review</a:t>
            </a:r>
            <a:r>
              <a:rPr sz="2400" b="1" spc="-20" dirty="0">
                <a:solidFill>
                  <a:srgbClr val="953734"/>
                </a:solidFill>
                <a:latin typeface="Times New Roman"/>
                <a:cs typeface="Times New Roman"/>
              </a:rPr>
              <a:t> </a:t>
            </a:r>
            <a:r>
              <a:rPr sz="2400" b="1" spc="-50" dirty="0">
                <a:solidFill>
                  <a:srgbClr val="953734"/>
                </a:solidFill>
                <a:latin typeface="Times New Roman"/>
                <a:cs typeface="Times New Roman"/>
              </a:rPr>
              <a:t>1</a:t>
            </a:r>
            <a:r>
              <a:rPr lang="en-IN" sz="2400" b="1" spc="-50" dirty="0">
                <a:solidFill>
                  <a:srgbClr val="953734"/>
                </a:solidFill>
                <a:latin typeface="Times New Roman"/>
                <a:cs typeface="Times New Roman"/>
              </a:rPr>
              <a:t> </a:t>
            </a:r>
          </a:p>
          <a:p>
            <a:pPr marL="12700" algn="ctr">
              <a:lnSpc>
                <a:spcPct val="150000"/>
              </a:lnSpc>
              <a:spcBef>
                <a:spcPts val="100"/>
              </a:spcBef>
            </a:pPr>
            <a:r>
              <a:rPr lang="en-IN" b="1" spc="-50" dirty="0">
                <a:solidFill>
                  <a:schemeClr val="tx1"/>
                </a:solidFill>
                <a:latin typeface="Times New Roman" panose="02020603050405020304" pitchFamily="18" charset="0"/>
                <a:cs typeface="Times New Roman" panose="02020603050405020304" pitchFamily="18" charset="0"/>
              </a:rPr>
              <a:t>“AI</a:t>
            </a:r>
            <a:r>
              <a:rPr lang="en-IN" b="1" dirty="0">
                <a:solidFill>
                  <a:schemeClr val="tx1"/>
                </a:solidFill>
                <a:latin typeface="Times New Roman" panose="02020603050405020304" pitchFamily="18" charset="0"/>
                <a:cs typeface="Times New Roman" panose="02020603050405020304" pitchFamily="18" charset="0"/>
              </a:rPr>
              <a:t>-Powered System Design Platform”</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4600057" y="3810000"/>
            <a:ext cx="3899777" cy="997709"/>
          </a:xfrm>
          <a:prstGeom prst="rect">
            <a:avLst/>
          </a:prstGeom>
        </p:spPr>
        <p:txBody>
          <a:bodyPr vert="horz" wrap="square" lIns="0" tIns="12700" rIns="0" bIns="0" rtlCol="0">
            <a:spAutoFit/>
          </a:bodyPr>
          <a:lstStyle/>
          <a:p>
            <a:pPr marL="0" marR="0" lvl="0" indent="0" algn="l" rtl="0">
              <a:spcBef>
                <a:spcPts val="0"/>
              </a:spcBef>
              <a:spcAft>
                <a:spcPts val="0"/>
              </a:spcAft>
              <a:buNone/>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Harshal Srirampura Lokesh    1BY23IS079</a:t>
            </a:r>
          </a:p>
          <a:p>
            <a:pPr marL="0" marR="0" lvl="0" indent="0" algn="l" rtl="0">
              <a:spcBef>
                <a:spcPts val="0"/>
              </a:spcBef>
              <a:spcAft>
                <a:spcPts val="0"/>
              </a:spcAft>
              <a:buNone/>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Manu J P 		            1BY23IS111</a:t>
            </a:r>
          </a:p>
          <a:p>
            <a:pPr marL="0" marR="0" lvl="0" indent="0" algn="l" rtl="0">
              <a:spcBef>
                <a:spcPts val="0"/>
              </a:spcBef>
              <a:spcAft>
                <a:spcPts val="0"/>
              </a:spcAft>
              <a:buNone/>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Supriya Gouda	            1BY23IS227</a:t>
            </a:r>
          </a:p>
          <a:p>
            <a:pPr marL="0" lvl="0" indent="0" algn="l" rtl="0">
              <a:spcBef>
                <a:spcPts val="0"/>
              </a:spcBef>
              <a:spcAft>
                <a:spcPts val="0"/>
              </a:spcAft>
              <a:buNone/>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Vidhi Poddar                             1BY23IS248</a:t>
            </a:r>
            <a:endParaRPr sz="1600" dirty="0">
              <a:latin typeface="Calibri" panose="020F0502020204030204" pitchFamily="34" charset="0"/>
              <a:ea typeface="Calibri" panose="020F0502020204030204" pitchFamily="34" charset="0"/>
              <a:cs typeface="Calibri" panose="020F0502020204030204" pitchFamily="34" charset="0"/>
            </a:endParaRPr>
          </a:p>
        </p:txBody>
      </p:sp>
      <p:pic>
        <p:nvPicPr>
          <p:cNvPr id="6" name="object 6"/>
          <p:cNvPicPr/>
          <p:nvPr/>
        </p:nvPicPr>
        <p:blipFill>
          <a:blip r:embed="rId2" cstate="print"/>
          <a:stretch>
            <a:fillRect/>
          </a:stretch>
        </p:blipFill>
        <p:spPr>
          <a:xfrm>
            <a:off x="360010" y="0"/>
            <a:ext cx="9012935" cy="1998109"/>
          </a:xfrm>
          <a:prstGeom prst="rect">
            <a:avLst/>
          </a:prstGeom>
        </p:spPr>
      </p:pic>
      <p:pic>
        <p:nvPicPr>
          <p:cNvPr id="7" name="object 7"/>
          <p:cNvPicPr/>
          <p:nvPr/>
        </p:nvPicPr>
        <p:blipFill>
          <a:blip r:embed="rId3" cstate="print"/>
          <a:stretch>
            <a:fillRect/>
          </a:stretch>
        </p:blipFill>
        <p:spPr>
          <a:xfrm>
            <a:off x="10394470" y="118194"/>
            <a:ext cx="1596806" cy="1580013"/>
          </a:xfrm>
          <a:prstGeom prst="rect">
            <a:avLst/>
          </a:prstGeom>
        </p:spPr>
      </p:pic>
      <p:sp>
        <p:nvSpPr>
          <p:cNvPr id="70" name="Google Shape;70;p8"/>
          <p:cNvSpPr txBox="1"/>
          <p:nvPr/>
        </p:nvSpPr>
        <p:spPr>
          <a:xfrm>
            <a:off x="3810000" y="5204218"/>
            <a:ext cx="457200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dirty="0">
                <a:solidFill>
                  <a:schemeClr val="dk1"/>
                </a:solidFill>
                <a:latin typeface="Calibri"/>
                <a:ea typeface="Calibri"/>
                <a:cs typeface="Calibri"/>
                <a:sym typeface="Calibri"/>
              </a:rPr>
              <a:t>Under</a:t>
            </a:r>
            <a:r>
              <a:rPr lang="en-US" sz="2000" dirty="0">
                <a:solidFill>
                  <a:schemeClr val="dk1"/>
                </a:solidFill>
                <a:latin typeface="Calibri"/>
                <a:ea typeface="Calibri"/>
                <a:cs typeface="Calibri"/>
                <a:sym typeface="Calibri"/>
              </a:rPr>
              <a:t> the Guidance of</a:t>
            </a:r>
            <a:endParaRPr sz="1200" dirty="0"/>
          </a:p>
        </p:txBody>
      </p:sp>
      <p:sp>
        <p:nvSpPr>
          <p:cNvPr id="10" name="TextBox 9">
            <a:extLst>
              <a:ext uri="{FF2B5EF4-FFF2-40B4-BE49-F238E27FC236}">
                <a16:creationId xmlns:a16="http://schemas.microsoft.com/office/drawing/2014/main" id="{5AB29A6B-17C2-F067-5BD0-6E18C2AD5041}"/>
              </a:ext>
            </a:extLst>
          </p:cNvPr>
          <p:cNvSpPr txBox="1"/>
          <p:nvPr/>
        </p:nvSpPr>
        <p:spPr>
          <a:xfrm>
            <a:off x="4894082" y="5708408"/>
            <a:ext cx="2403835" cy="584775"/>
          </a:xfrm>
          <a:prstGeom prst="rect">
            <a:avLst/>
          </a:prstGeom>
          <a:noFill/>
        </p:spPr>
        <p:txBody>
          <a:bodyPr wrap="square" rtlCol="0">
            <a:spAutoFit/>
          </a:bodyPr>
          <a:lstStyle/>
          <a:p>
            <a:pPr algn="ctr"/>
            <a:r>
              <a:rPr lang="en-IN" sz="1600" b="1" dirty="0"/>
              <a:t>Prof. Spandana L </a:t>
            </a:r>
          </a:p>
          <a:p>
            <a:pPr algn="ctr"/>
            <a:r>
              <a:rPr lang="en-IN" sz="1600" dirty="0"/>
              <a:t>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0912" y="1600200"/>
            <a:ext cx="10290175" cy="1635704"/>
          </a:xfrm>
          <a:prstGeom prst="rect">
            <a:avLst/>
          </a:prstGeom>
        </p:spPr>
        <p:txBody>
          <a:bodyPr vert="horz" wrap="square" lIns="0" tIns="95885" rIns="0" bIns="0" rtlCol="0">
            <a:spAutoFit/>
          </a:bodyPr>
          <a:lstStyle/>
          <a:p>
            <a:pPr marL="12700" algn="just">
              <a:spcBef>
                <a:spcPts val="755"/>
              </a:spcBef>
              <a:tabLst>
                <a:tab pos="255904" algn="l"/>
              </a:tabLst>
            </a:pPr>
            <a:r>
              <a:rPr lang="en-US" sz="2000" dirty="0">
                <a:latin typeface="Times New Roman" panose="02020603050405020304" pitchFamily="18" charset="0"/>
                <a:cs typeface="Times New Roman" panose="02020603050405020304" pitchFamily="18" charset="0"/>
              </a:rPr>
              <a:t>Designing scalable software architectures requires expertise to determine system components, technology stacks, databases, and infrastructure. Currently, developers must manually create High Level Design (HLD) and Low Level Design (LLD) from application requirements, which is time-consuming and challenging for beginners. There is no dedicated system that automatically converts natural language application descriptions into complete and structured architecture designs.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3" name="object 3"/>
          <p:cNvSpPr txBox="1">
            <a:spLocks noGrp="1"/>
          </p:cNvSpPr>
          <p:nvPr>
            <p:ph type="title"/>
          </p:nvPr>
        </p:nvSpPr>
        <p:spPr>
          <a:xfrm>
            <a:off x="2590800" y="251413"/>
            <a:ext cx="7270750" cy="1016000"/>
          </a:xfrm>
          <a:prstGeom prst="rect">
            <a:avLst/>
          </a:prstGeom>
          <a:solidFill>
            <a:srgbClr val="B7CCE4"/>
          </a:solidFill>
          <a:ln w="28574">
            <a:solidFill>
              <a:srgbClr val="5F4979"/>
            </a:solidFill>
          </a:ln>
        </p:spPr>
        <p:txBody>
          <a:bodyPr vert="horz" wrap="square" lIns="0" tIns="7620" rIns="0" bIns="0" rtlCol="0">
            <a:spAutoFit/>
          </a:bodyPr>
          <a:lstStyle/>
          <a:p>
            <a:pPr marL="85725">
              <a:lnSpc>
                <a:spcPct val="100000"/>
              </a:lnSpc>
              <a:spcBef>
                <a:spcPts val="60"/>
              </a:spcBef>
            </a:pPr>
            <a:r>
              <a:rPr sz="6000" dirty="0"/>
              <a:t>Problem</a:t>
            </a:r>
            <a:r>
              <a:rPr sz="6000" spc="-35" dirty="0"/>
              <a:t> </a:t>
            </a:r>
            <a:r>
              <a:rPr sz="6000" spc="-10" dirty="0"/>
              <a:t>Statement</a:t>
            </a:r>
            <a:endParaRPr sz="6000" dirty="0"/>
          </a:p>
        </p:txBody>
      </p:sp>
      <p:sp>
        <p:nvSpPr>
          <p:cNvPr id="7" name="TextBox 6">
            <a:extLst>
              <a:ext uri="{FF2B5EF4-FFF2-40B4-BE49-F238E27FC236}">
                <a16:creationId xmlns:a16="http://schemas.microsoft.com/office/drawing/2014/main" id="{2BF3C2CD-40C5-C698-9B06-FEA9A99DEFE9}"/>
              </a:ext>
            </a:extLst>
          </p:cNvPr>
          <p:cNvSpPr txBox="1"/>
          <p:nvPr/>
        </p:nvSpPr>
        <p:spPr>
          <a:xfrm>
            <a:off x="989775" y="3657600"/>
            <a:ext cx="10365105" cy="1477328"/>
          </a:xfrm>
          <a:prstGeom prst="rect">
            <a:avLst/>
          </a:prstGeom>
          <a:noFill/>
        </p:spPr>
        <p:txBody>
          <a:bodyPr wrap="square" rtlCol="0">
            <a:spAutoFit/>
          </a:bodyPr>
          <a:lstStyle/>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Why this Project is Important &amp; Target Users</a:t>
            </a:r>
          </a:p>
          <a:p>
            <a:pPr lvl="2"/>
            <a:endParaRPr lang="en-US"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An automated architecture generation system can reduce design effort and help users quickly create reliable system designs. The primary beneficiaries are </a:t>
            </a:r>
            <a:r>
              <a:rPr lang="en-US" b="1" dirty="0">
                <a:latin typeface="Times New Roman" panose="02020603050405020304" pitchFamily="18" charset="0"/>
                <a:cs typeface="Times New Roman" panose="02020603050405020304" pitchFamily="18" charset="0"/>
              </a:rPr>
              <a:t>software developers, students learning system design, and startups performing rapid application prototyping.</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6470" y="1981200"/>
            <a:ext cx="10975975" cy="3523400"/>
          </a:xfrm>
          <a:prstGeom prst="rect">
            <a:avLst/>
          </a:prstGeom>
        </p:spPr>
        <p:txBody>
          <a:bodyPr vert="horz" wrap="square" lIns="0" tIns="95885" rIns="0" bIns="0" rtlCol="0">
            <a:spAutoFit/>
          </a:bodyPr>
          <a:lstStyle/>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Current Challenges in Existing Systems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Software architecture design requires significant expertise and is mostly done manually.</a:t>
            </a:r>
          </a:p>
          <a:p>
            <a:r>
              <a:rPr lang="en-US" dirty="0">
                <a:latin typeface="Times New Roman" panose="02020603050405020304" pitchFamily="18" charset="0"/>
                <a:cs typeface="Times New Roman" panose="02020603050405020304" pitchFamily="18" charset="0"/>
              </a:rPr>
              <a:t>Existing AI tools mainly assist in </a:t>
            </a:r>
            <a:r>
              <a:rPr lang="en-US" b="1" dirty="0">
                <a:latin typeface="Times New Roman" panose="02020603050405020304" pitchFamily="18" charset="0"/>
                <a:cs typeface="Times New Roman" panose="02020603050405020304" pitchFamily="18" charset="0"/>
              </a:rPr>
              <a:t>code generation</a:t>
            </a:r>
            <a:r>
              <a:rPr lang="en-US" dirty="0">
                <a:latin typeface="Times New Roman" panose="02020603050405020304" pitchFamily="18" charset="0"/>
                <a:cs typeface="Times New Roman" panose="02020603050405020304" pitchFamily="18" charset="0"/>
              </a:rPr>
              <a:t>, not complete system architecture (HLD, LLD, infrastructure).</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Limitations of Current Approaches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Many solutions rely only on </a:t>
            </a:r>
            <a:r>
              <a:rPr lang="en-US" b="1" dirty="0">
                <a:latin typeface="Times New Roman" panose="02020603050405020304" pitchFamily="18" charset="0"/>
                <a:cs typeface="Times New Roman" panose="02020603050405020304" pitchFamily="18" charset="0"/>
              </a:rPr>
              <a:t>LLMs or templates</a:t>
            </a:r>
            <a:r>
              <a:rPr lang="en-US" dirty="0">
                <a:latin typeface="Times New Roman" panose="02020603050405020304" pitchFamily="18" charset="0"/>
                <a:cs typeface="Times New Roman" panose="02020603050405020304" pitchFamily="18" charset="0"/>
              </a:rPr>
              <a:t>, leading to inconsistent designs.</a:t>
            </a:r>
          </a:p>
          <a:p>
            <a:r>
              <a:rPr lang="en-US" dirty="0">
                <a:latin typeface="Times New Roman" panose="02020603050405020304" pitchFamily="18" charset="0"/>
                <a:cs typeface="Times New Roman" panose="02020603050405020304" pitchFamily="18" charset="0"/>
              </a:rPr>
              <a:t>They lack </a:t>
            </a:r>
            <a:r>
              <a:rPr lang="en-US" b="1" dirty="0">
                <a:latin typeface="Times New Roman" panose="02020603050405020304" pitchFamily="18" charset="0"/>
                <a:cs typeface="Times New Roman" panose="02020603050405020304" pitchFamily="18" charset="0"/>
              </a:rPr>
              <a:t>architecture validation, cost estimation, and explanation of design decisions</a:t>
            </a:r>
            <a:r>
              <a:rPr lang="en-US" dirty="0">
                <a:latin typeface="Times New Roman" panose="02020603050405020304" pitchFamily="18" charset="0"/>
                <a:cs typeface="Times New Roman" panose="02020603050405020304" pitchFamily="18" charset="0"/>
              </a:rPr>
              <a:t>.</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Real-World Impact of Solving This Problem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Automating architecture design can </a:t>
            </a:r>
            <a:r>
              <a:rPr lang="en-US" b="1" dirty="0">
                <a:latin typeface="Times New Roman" panose="02020603050405020304" pitchFamily="18" charset="0"/>
                <a:cs typeface="Times New Roman" panose="02020603050405020304" pitchFamily="18" charset="0"/>
              </a:rPr>
              <a:t>reduce development planning time and improve design quality</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It helps </a:t>
            </a:r>
            <a:r>
              <a:rPr lang="en-US" b="1" dirty="0">
                <a:latin typeface="Times New Roman" panose="02020603050405020304" pitchFamily="18" charset="0"/>
                <a:cs typeface="Times New Roman" panose="02020603050405020304" pitchFamily="18" charset="0"/>
              </a:rPr>
              <a:t>developers, students, and startups quickly create reliable system architectures.</a:t>
            </a:r>
            <a:endParaRPr lang="en-US" dirty="0">
              <a:latin typeface="Times New Roman" panose="02020603050405020304" pitchFamily="18" charset="0"/>
              <a:cs typeface="Times New Roman" panose="02020603050405020304" pitchFamily="18" charset="0"/>
            </a:endParaRPr>
          </a:p>
          <a:p>
            <a:pPr marL="12700">
              <a:lnSpc>
                <a:spcPct val="100000"/>
              </a:lnSpc>
              <a:spcBef>
                <a:spcPts val="755"/>
              </a:spcBef>
              <a:tabLst>
                <a:tab pos="255904" algn="l"/>
              </a:tabLst>
            </a:pPr>
            <a:endParaRPr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3" name="object 3"/>
          <p:cNvSpPr txBox="1">
            <a:spLocks noGrp="1"/>
          </p:cNvSpPr>
          <p:nvPr>
            <p:ph type="title"/>
          </p:nvPr>
        </p:nvSpPr>
        <p:spPr>
          <a:xfrm>
            <a:off x="1371600" y="305071"/>
            <a:ext cx="9590405" cy="1143000"/>
          </a:xfrm>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t>Motivation</a:t>
            </a:r>
            <a:endParaRPr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dirty="0"/>
              <a:t>I</a:t>
            </a:r>
            <a:r>
              <a:rPr spc="-25" dirty="0"/>
              <a:t>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sp>
        <p:nvSpPr>
          <p:cNvPr id="3" name="object 3"/>
          <p:cNvSpPr txBox="1">
            <a:spLocks noGrp="1"/>
          </p:cNvSpPr>
          <p:nvPr>
            <p:ph type="title"/>
          </p:nvPr>
        </p:nvSpPr>
        <p:spPr>
          <a:xfrm>
            <a:off x="1905000" y="162369"/>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marL="139065">
              <a:lnSpc>
                <a:spcPct val="100000"/>
              </a:lnSpc>
              <a:spcBef>
                <a:spcPts val="1680"/>
              </a:spcBef>
              <a:tabLst>
                <a:tab pos="4199890" algn="l"/>
                <a:tab pos="6223635" algn="l"/>
              </a:tabLst>
            </a:pPr>
            <a:r>
              <a:rPr sz="4400" dirty="0"/>
              <a:t>Literature</a:t>
            </a:r>
            <a:r>
              <a:rPr sz="4400" spc="-50" dirty="0"/>
              <a:t> </a:t>
            </a:r>
            <a:r>
              <a:rPr sz="4400" spc="-10" dirty="0"/>
              <a:t>Survey</a:t>
            </a:r>
            <a:r>
              <a:rPr sz="4400" dirty="0"/>
              <a:t>	</a:t>
            </a:r>
            <a:r>
              <a:rPr sz="4400" spc="-10" dirty="0"/>
              <a:t>(Tabular</a:t>
            </a:r>
            <a:r>
              <a:rPr sz="4400" dirty="0"/>
              <a:t>	</a:t>
            </a:r>
            <a:r>
              <a:rPr sz="4400" spc="-10" dirty="0"/>
              <a:t>column)</a:t>
            </a:r>
            <a:endParaRPr sz="4400" dirty="0"/>
          </a:p>
        </p:txBody>
      </p:sp>
      <p:graphicFrame>
        <p:nvGraphicFramePr>
          <p:cNvPr id="10" name="Table 9">
            <a:extLst>
              <a:ext uri="{FF2B5EF4-FFF2-40B4-BE49-F238E27FC236}">
                <a16:creationId xmlns:a16="http://schemas.microsoft.com/office/drawing/2014/main" id="{5404995F-863B-904E-203F-456D892FCDEA}"/>
              </a:ext>
            </a:extLst>
          </p:cNvPr>
          <p:cNvGraphicFramePr>
            <a:graphicFrameLocks noGrp="1"/>
          </p:cNvGraphicFramePr>
          <p:nvPr>
            <p:extLst>
              <p:ext uri="{D42A27DB-BD31-4B8C-83A1-F6EECF244321}">
                <p14:modId xmlns:p14="http://schemas.microsoft.com/office/powerpoint/2010/main" val="1479099275"/>
              </p:ext>
            </p:extLst>
          </p:nvPr>
        </p:nvGraphicFramePr>
        <p:xfrm>
          <a:off x="533400" y="1525510"/>
          <a:ext cx="11014076" cy="4699621"/>
        </p:xfrm>
        <a:graphic>
          <a:graphicData uri="http://schemas.openxmlformats.org/drawingml/2006/table">
            <a:tbl>
              <a:tblPr>
                <a:tableStyleId>{69012ECD-51FC-41F1-AA8D-1B2483CD663E}</a:tableStyleId>
              </a:tblPr>
              <a:tblGrid>
                <a:gridCol w="1573438">
                  <a:extLst>
                    <a:ext uri="{9D8B030D-6E8A-4147-A177-3AD203B41FA5}">
                      <a16:colId xmlns:a16="http://schemas.microsoft.com/office/drawing/2014/main" val="133660388"/>
                    </a:ext>
                  </a:extLst>
                </a:gridCol>
                <a:gridCol w="1210654">
                  <a:extLst>
                    <a:ext uri="{9D8B030D-6E8A-4147-A177-3AD203B41FA5}">
                      <a16:colId xmlns:a16="http://schemas.microsoft.com/office/drawing/2014/main" val="4006297758"/>
                    </a:ext>
                  </a:extLst>
                </a:gridCol>
                <a:gridCol w="926960">
                  <a:extLst>
                    <a:ext uri="{9D8B030D-6E8A-4147-A177-3AD203B41FA5}">
                      <a16:colId xmlns:a16="http://schemas.microsoft.com/office/drawing/2014/main" val="316746750"/>
                    </a:ext>
                  </a:extLst>
                </a:gridCol>
                <a:gridCol w="2080148">
                  <a:extLst>
                    <a:ext uri="{9D8B030D-6E8A-4147-A177-3AD203B41FA5}">
                      <a16:colId xmlns:a16="http://schemas.microsoft.com/office/drawing/2014/main" val="3072968540"/>
                    </a:ext>
                  </a:extLst>
                </a:gridCol>
                <a:gridCol w="2819400">
                  <a:extLst>
                    <a:ext uri="{9D8B030D-6E8A-4147-A177-3AD203B41FA5}">
                      <a16:colId xmlns:a16="http://schemas.microsoft.com/office/drawing/2014/main" val="4051377834"/>
                    </a:ext>
                  </a:extLst>
                </a:gridCol>
                <a:gridCol w="2403476">
                  <a:extLst>
                    <a:ext uri="{9D8B030D-6E8A-4147-A177-3AD203B41FA5}">
                      <a16:colId xmlns:a16="http://schemas.microsoft.com/office/drawing/2014/main" val="3153971870"/>
                    </a:ext>
                  </a:extLst>
                </a:gridCol>
              </a:tblGrid>
              <a:tr h="468000">
                <a:tc>
                  <a:txBody>
                    <a:bodyPr/>
                    <a:lstStyle/>
                    <a:p>
                      <a:pPr algn="ctr">
                        <a:buNone/>
                      </a:pPr>
                      <a:r>
                        <a:rPr lang="en-IN" sz="1400" b="1" dirty="0">
                          <a:latin typeface="+mn-lt"/>
                          <a:cs typeface="Times New Roman" panose="02020603050405020304" pitchFamily="18" charset="0"/>
                        </a:rPr>
                        <a:t>Paper Title</a:t>
                      </a:r>
                    </a:p>
                  </a:txBody>
                  <a:tcPr marL="12378" marR="12378" marT="6189" marB="6189" anchor="ctr">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accent5">
                        <a:lumMod val="20000"/>
                        <a:lumOff val="80000"/>
                      </a:schemeClr>
                    </a:solidFill>
                  </a:tcPr>
                </a:tc>
                <a:tc>
                  <a:txBody>
                    <a:bodyPr/>
                    <a:lstStyle/>
                    <a:p>
                      <a:pPr algn="ctr">
                        <a:buNone/>
                      </a:pPr>
                      <a:r>
                        <a:rPr lang="en-IN" sz="1400" b="1" dirty="0">
                          <a:latin typeface="+mn-lt"/>
                          <a:cs typeface="Times New Roman" panose="02020603050405020304" pitchFamily="18" charset="0"/>
                        </a:rPr>
                        <a:t>Source</a:t>
                      </a:r>
                    </a:p>
                  </a:txBody>
                  <a:tcPr marL="12378" marR="12378" marT="6189" marB="6189" anchor="ctr">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accent5">
                        <a:lumMod val="20000"/>
                        <a:lumOff val="80000"/>
                      </a:schemeClr>
                    </a:solidFill>
                  </a:tcPr>
                </a:tc>
                <a:tc>
                  <a:txBody>
                    <a:bodyPr/>
                    <a:lstStyle/>
                    <a:p>
                      <a:pPr algn="ctr">
                        <a:buNone/>
                      </a:pPr>
                      <a:r>
                        <a:rPr lang="en-IN" sz="1400" b="1" dirty="0">
                          <a:latin typeface="+mn-lt"/>
                          <a:cs typeface="Times New Roman" panose="02020603050405020304" pitchFamily="18" charset="0"/>
                        </a:rPr>
                        <a:t>Year</a:t>
                      </a:r>
                    </a:p>
                  </a:txBody>
                  <a:tcPr marL="12378" marR="12378" marT="6189" marB="6189" anchor="ctr">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accent5">
                        <a:lumMod val="20000"/>
                        <a:lumOff val="80000"/>
                      </a:schemeClr>
                    </a:solidFill>
                  </a:tcPr>
                </a:tc>
                <a:tc>
                  <a:txBody>
                    <a:bodyPr/>
                    <a:lstStyle/>
                    <a:p>
                      <a:pPr algn="ctr">
                        <a:buNone/>
                      </a:pPr>
                      <a:r>
                        <a:rPr lang="en-IN" sz="1400" b="1" dirty="0">
                          <a:latin typeface="+mn-lt"/>
                          <a:cs typeface="Times New Roman" panose="02020603050405020304" pitchFamily="18" charset="0"/>
                        </a:rPr>
                        <a:t>Techniques</a:t>
                      </a:r>
                    </a:p>
                  </a:txBody>
                  <a:tcPr marL="12378" marR="12378" marT="6189" marB="6189" anchor="ctr">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accent5">
                        <a:lumMod val="20000"/>
                        <a:lumOff val="80000"/>
                      </a:schemeClr>
                    </a:solidFill>
                  </a:tcPr>
                </a:tc>
                <a:tc>
                  <a:txBody>
                    <a:bodyPr/>
                    <a:lstStyle/>
                    <a:p>
                      <a:pPr algn="ctr">
                        <a:buNone/>
                      </a:pPr>
                      <a:r>
                        <a:rPr lang="en-IN" sz="1400" b="1" dirty="0">
                          <a:latin typeface="+mn-lt"/>
                          <a:cs typeface="Times New Roman" panose="02020603050405020304" pitchFamily="18" charset="0"/>
                        </a:rPr>
                        <a:t>Results</a:t>
                      </a:r>
                    </a:p>
                  </a:txBody>
                  <a:tcPr marL="12378" marR="12378" marT="6189" marB="6189" anchor="ctr">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accent5">
                        <a:lumMod val="20000"/>
                        <a:lumOff val="80000"/>
                      </a:schemeClr>
                    </a:solidFill>
                  </a:tcPr>
                </a:tc>
                <a:tc>
                  <a:txBody>
                    <a:bodyPr/>
                    <a:lstStyle/>
                    <a:p>
                      <a:pPr algn="ctr">
                        <a:buNone/>
                      </a:pPr>
                      <a:r>
                        <a:rPr lang="en-IN" sz="1400" b="1" dirty="0">
                          <a:latin typeface="+mn-lt"/>
                          <a:cs typeface="Times New Roman" panose="02020603050405020304" pitchFamily="18" charset="0"/>
                        </a:rPr>
                        <a:t>Limitations</a:t>
                      </a:r>
                    </a:p>
                  </a:txBody>
                  <a:tcPr marL="12378" marR="12378" marT="6189" marB="6189" anchor="ctr">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accent5">
                        <a:lumMod val="20000"/>
                        <a:lumOff val="80000"/>
                      </a:schemeClr>
                    </a:solidFill>
                  </a:tcPr>
                </a:tc>
                <a:extLst>
                  <a:ext uri="{0D108BD9-81ED-4DB2-BD59-A6C34878D82A}">
                    <a16:rowId xmlns:a16="http://schemas.microsoft.com/office/drawing/2014/main" val="3139038380"/>
                  </a:ext>
                </a:extLst>
              </a:tr>
              <a:tr h="1143533">
                <a:tc>
                  <a:txBody>
                    <a:bodyPr/>
                    <a:lstStyle/>
                    <a:p>
                      <a:pPr lvl="0" algn="l">
                        <a:buNone/>
                      </a:pPr>
                      <a:r>
                        <a:rPr lang="en-IN" sz="1400" dirty="0" err="1">
                          <a:latin typeface="+mn-lt"/>
                          <a:cs typeface="Times New Roman" panose="02020603050405020304" pitchFamily="18" charset="0"/>
                        </a:rPr>
                        <a:t>MetaGPT</a:t>
                      </a:r>
                      <a:r>
                        <a:rPr lang="en-IN" sz="1400" dirty="0">
                          <a:latin typeface="+mn-lt"/>
                          <a:cs typeface="Times New Roman" panose="02020603050405020304" pitchFamily="18" charset="0"/>
                        </a:rPr>
                        <a:t>: Meta Programming for a Multi-Agent Collaborative Framework</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err="1">
                          <a:latin typeface="+mn-lt"/>
                          <a:cs typeface="Times New Roman" panose="02020603050405020304" pitchFamily="18" charset="0"/>
                        </a:rPr>
                        <a:t>arXiv</a:t>
                      </a:r>
                      <a:endParaRPr lang="en-IN" sz="1400" dirty="0">
                        <a:latin typeface="+mn-lt"/>
                        <a:cs typeface="Times New Roman" panose="02020603050405020304" pitchFamily="18" charset="0"/>
                      </a:endParaRP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2023</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Multi-agent LLM system, prompt engineering, role-based agents</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Generates PRD, system design, task lists and code automatically</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Requires large LLMs and high compute resources</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840847557"/>
                  </a:ext>
                </a:extLst>
              </a:tr>
              <a:tr h="1050814">
                <a:tc>
                  <a:txBody>
                    <a:bodyPr/>
                    <a:lstStyle/>
                    <a:p>
                      <a:pPr lvl="0" algn="l">
                        <a:buNone/>
                      </a:pPr>
                      <a:r>
                        <a:rPr lang="en-US" sz="1400" dirty="0">
                          <a:latin typeface="+mn-lt"/>
                          <a:cs typeface="Times New Roman" panose="02020603050405020304" pitchFamily="18" charset="0"/>
                        </a:rPr>
                        <a:t>Automated Software Design Using Machine Learning with NLP</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IEEE Xplore</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2020</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NLP preprocessing, SVM, Decision Trees</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Generates UML design models from textual requirements</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Needs structured requirement documents</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4065419931"/>
                  </a:ext>
                </a:extLst>
              </a:tr>
              <a:tr h="1050814">
                <a:tc>
                  <a:txBody>
                    <a:bodyPr/>
                    <a:lstStyle/>
                    <a:p>
                      <a:pPr lvl="0" algn="l">
                        <a:buNone/>
                      </a:pPr>
                      <a:r>
                        <a:rPr lang="en-US" sz="1400" dirty="0">
                          <a:latin typeface="+mn-lt"/>
                          <a:cs typeface="Times New Roman" panose="02020603050405020304" pitchFamily="18" charset="0"/>
                        </a:rPr>
                        <a:t>Class Diagram Extraction from Textual Requirements Using NLP</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IEEE Xplore</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2019</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POS tagging, semantic role labeling, rule-based extraction</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Extracts UML classes, attributes and relations</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Limited scalability due to rule-based system</a:t>
                      </a:r>
                    </a:p>
                  </a:txBody>
                  <a:tcPr marL="12378" marR="12378" marT="6189" marB="6189"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1703722188"/>
                  </a:ext>
                </a:extLst>
              </a:tr>
              <a:tr h="958096">
                <a:tc>
                  <a:txBody>
                    <a:bodyPr/>
                    <a:lstStyle/>
                    <a:p>
                      <a:pPr lvl="0" algn="l">
                        <a:buNone/>
                      </a:pPr>
                      <a:r>
                        <a:rPr lang="en-US" sz="1400" dirty="0">
                          <a:latin typeface="+mn-lt"/>
                          <a:cs typeface="Times New Roman" panose="02020603050405020304" pitchFamily="18" charset="0"/>
                        </a:rPr>
                        <a:t>Class Diagram Generation from User Stories Using LLMs</a:t>
                      </a:r>
                    </a:p>
                  </a:txBody>
                  <a:tcPr marL="12378" marR="12378" marT="6189" marB="6189" anchor="ctr">
                    <a:lnT w="12700" cap="flat" cmpd="sng" algn="ctr">
                      <a:solidFill>
                        <a:schemeClr val="tx1"/>
                      </a:solidFill>
                      <a:prstDash val="solid"/>
                      <a:round/>
                      <a:headEnd type="none" w="med" len="med"/>
                      <a:tailEnd type="none" w="med" len="med"/>
                    </a:lnT>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IEEE Xplore</a:t>
                      </a:r>
                    </a:p>
                  </a:txBody>
                  <a:tcPr marL="12378" marR="12378" marT="6189" marB="6189" anchor="ctr">
                    <a:lnT w="12700" cap="flat" cmpd="sng" algn="ctr">
                      <a:solidFill>
                        <a:schemeClr val="tx1"/>
                      </a:solidFill>
                      <a:prstDash val="solid"/>
                      <a:round/>
                      <a:headEnd type="none" w="med" len="med"/>
                      <a:tailEnd type="none" w="med" len="med"/>
                    </a:lnT>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2025</a:t>
                      </a:r>
                    </a:p>
                  </a:txBody>
                  <a:tcPr marL="12378" marR="12378" marT="6189" marB="6189" anchor="ctr">
                    <a:lnT w="12700" cap="flat" cmpd="sng" algn="ctr">
                      <a:solidFill>
                        <a:schemeClr val="tx1"/>
                      </a:solidFill>
                      <a:prstDash val="solid"/>
                      <a:round/>
                      <a:headEnd type="none" w="med" len="med"/>
                      <a:tailEnd type="none" w="med" len="med"/>
                    </a:lnT>
                    <a:lnTlToBr w="12700" cap="flat" cmpd="sng" algn="ctr">
                      <a:noFill/>
                      <a:prstDash val="solid"/>
                      <a:round/>
                      <a:headEnd type="none" w="med" len="med"/>
                      <a:tailEnd type="none" w="med" len="med"/>
                    </a:lnTlToBr>
                  </a:tcPr>
                </a:tc>
                <a:tc>
                  <a:txBody>
                    <a:bodyPr/>
                    <a:lstStyle/>
                    <a:p>
                      <a:pPr algn="l">
                        <a:buNone/>
                      </a:pPr>
                      <a:r>
                        <a:rPr lang="en-IN" sz="1400" dirty="0">
                          <a:latin typeface="+mn-lt"/>
                          <a:cs typeface="Times New Roman" panose="02020603050405020304" pitchFamily="18" charset="0"/>
                        </a:rPr>
                        <a:t>LLM reasoning, NLP preprocessing, </a:t>
                      </a:r>
                      <a:r>
                        <a:rPr lang="en-IN" sz="1400" dirty="0" err="1">
                          <a:latin typeface="+mn-lt"/>
                          <a:cs typeface="Times New Roman" panose="02020603050405020304" pitchFamily="18" charset="0"/>
                        </a:rPr>
                        <a:t>PlantUML</a:t>
                      </a:r>
                      <a:r>
                        <a:rPr lang="en-IN" sz="1400" dirty="0">
                          <a:latin typeface="+mn-lt"/>
                          <a:cs typeface="Times New Roman" panose="02020603050405020304" pitchFamily="18" charset="0"/>
                        </a:rPr>
                        <a:t> generation</a:t>
                      </a:r>
                    </a:p>
                  </a:txBody>
                  <a:tcPr marL="12378" marR="12378" marT="6189" marB="6189" anchor="ctr">
                    <a:lnT w="12700" cap="flat" cmpd="sng" algn="ctr">
                      <a:solidFill>
                        <a:schemeClr val="tx1"/>
                      </a:solidFill>
                      <a:prstDash val="solid"/>
                      <a:round/>
                      <a:headEnd type="none" w="med" len="med"/>
                      <a:tailEnd type="none" w="med" len="med"/>
                    </a:lnT>
                    <a:lnTlToBr w="12700" cap="flat" cmpd="sng" algn="ctr">
                      <a:noFill/>
                      <a:prstDash val="solid"/>
                      <a:round/>
                      <a:headEnd type="none" w="med" len="med"/>
                      <a:tailEnd type="none" w="med" len="med"/>
                    </a:lnTlToBr>
                  </a:tcPr>
                </a:tc>
                <a:tc>
                  <a:txBody>
                    <a:bodyPr/>
                    <a:lstStyle/>
                    <a:p>
                      <a:pPr algn="l">
                        <a:buNone/>
                      </a:pPr>
                      <a:r>
                        <a:rPr lang="en-US" sz="1400">
                          <a:latin typeface="+mn-lt"/>
                          <a:cs typeface="Times New Roman" panose="02020603050405020304" pitchFamily="18" charset="0"/>
                        </a:rPr>
                        <a:t>Converts user stories into UML class diagrams</a:t>
                      </a:r>
                      <a:endParaRPr lang="en-US" sz="1400" dirty="0">
                        <a:latin typeface="+mn-lt"/>
                        <a:cs typeface="Times New Roman" panose="02020603050405020304" pitchFamily="18" charset="0"/>
                      </a:endParaRPr>
                    </a:p>
                  </a:txBody>
                  <a:tcPr marL="12378" marR="12378" marT="6189" marB="6189" anchor="ctr">
                    <a:lnT w="12700" cap="flat" cmpd="sng" algn="ctr">
                      <a:solidFill>
                        <a:schemeClr val="tx1"/>
                      </a:solidFill>
                      <a:prstDash val="solid"/>
                      <a:round/>
                      <a:headEnd type="none" w="med" len="med"/>
                      <a:tailEnd type="none" w="med" len="med"/>
                    </a:lnT>
                    <a:lnTlToBr w="12700" cap="flat" cmpd="sng" algn="ctr">
                      <a:noFill/>
                      <a:prstDash val="solid"/>
                      <a:round/>
                      <a:headEnd type="none" w="med" len="med"/>
                      <a:tailEnd type="none" w="med" len="med"/>
                    </a:lnTlToBr>
                  </a:tcPr>
                </a:tc>
                <a:tc>
                  <a:txBody>
                    <a:bodyPr/>
                    <a:lstStyle/>
                    <a:p>
                      <a:pPr algn="l">
                        <a:buNone/>
                      </a:pPr>
                      <a:r>
                        <a:rPr lang="en-US" sz="1400" dirty="0">
                          <a:latin typeface="+mn-lt"/>
                          <a:cs typeface="Times New Roman" panose="02020603050405020304" pitchFamily="18" charset="0"/>
                        </a:rPr>
                        <a:t>Sensitive to unclear user stories</a:t>
                      </a:r>
                    </a:p>
                  </a:txBody>
                  <a:tcPr marL="12378" marR="12378" marT="6189" marB="6189" anchor="ctr">
                    <a:lnT w="12700" cap="flat" cmpd="sng" algn="ctr">
                      <a:solidFill>
                        <a:schemeClr val="tx1"/>
                      </a:solidFill>
                      <a:prstDash val="solid"/>
                      <a:round/>
                      <a:headEnd type="none" w="med" len="med"/>
                      <a:tailEnd type="none" w="med" len="med"/>
                    </a:lnT>
                    <a:lnTlToBr w="12700" cap="flat" cmpd="sng" algn="ctr">
                      <a:noFill/>
                      <a:prstDash val="solid"/>
                      <a:round/>
                      <a:headEnd type="none" w="med" len="med"/>
                      <a:tailEnd type="none" w="med" len="med"/>
                    </a:lnTlToBr>
                  </a:tcPr>
                </a:tc>
                <a:extLst>
                  <a:ext uri="{0D108BD9-81ED-4DB2-BD59-A6C34878D82A}">
                    <a16:rowId xmlns:a16="http://schemas.microsoft.com/office/drawing/2014/main" val="227818395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1C16-3ECD-B46F-146C-A78953EBFCD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7EC362-78E8-8D75-AA94-D847BD3B30AF}"/>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a:extLst>
              <a:ext uri="{FF2B5EF4-FFF2-40B4-BE49-F238E27FC236}">
                <a16:creationId xmlns:a16="http://schemas.microsoft.com/office/drawing/2014/main" id="{7C47F49B-09D0-A85B-F1E8-FCABD95C19EA}"/>
              </a:ext>
            </a:extLst>
          </p:cNvPr>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a:extLst>
              <a:ext uri="{FF2B5EF4-FFF2-40B4-BE49-F238E27FC236}">
                <a16:creationId xmlns:a16="http://schemas.microsoft.com/office/drawing/2014/main" id="{57E48421-0BFA-2970-375C-8239AD0E67D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5</a:t>
            </a:fld>
            <a:endParaRPr spc="-25" dirty="0"/>
          </a:p>
        </p:txBody>
      </p:sp>
      <p:sp>
        <p:nvSpPr>
          <p:cNvPr id="3" name="object 3">
            <a:extLst>
              <a:ext uri="{FF2B5EF4-FFF2-40B4-BE49-F238E27FC236}">
                <a16:creationId xmlns:a16="http://schemas.microsoft.com/office/drawing/2014/main" id="{39B21715-AD3E-82BE-1C67-5B361080EE1E}"/>
              </a:ext>
            </a:extLst>
          </p:cNvPr>
          <p:cNvSpPr txBox="1">
            <a:spLocks noGrp="1"/>
          </p:cNvSpPr>
          <p:nvPr>
            <p:ph type="title"/>
          </p:nvPr>
        </p:nvSpPr>
        <p:spPr>
          <a:xfrm>
            <a:off x="1905000" y="162369"/>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marL="139065">
              <a:lnSpc>
                <a:spcPct val="100000"/>
              </a:lnSpc>
              <a:spcBef>
                <a:spcPts val="1680"/>
              </a:spcBef>
              <a:tabLst>
                <a:tab pos="4199890" algn="l"/>
                <a:tab pos="6223635" algn="l"/>
              </a:tabLst>
            </a:pPr>
            <a:r>
              <a:rPr sz="4400" dirty="0"/>
              <a:t>Literature</a:t>
            </a:r>
            <a:r>
              <a:rPr sz="4400" spc="-50" dirty="0"/>
              <a:t> </a:t>
            </a:r>
            <a:r>
              <a:rPr sz="4400" spc="-10" dirty="0"/>
              <a:t>Survey</a:t>
            </a:r>
            <a:r>
              <a:rPr sz="4400" dirty="0"/>
              <a:t>	</a:t>
            </a:r>
            <a:r>
              <a:rPr sz="4400" spc="-10" dirty="0"/>
              <a:t>(Tabular</a:t>
            </a:r>
            <a:r>
              <a:rPr sz="4400" dirty="0"/>
              <a:t>	</a:t>
            </a:r>
            <a:r>
              <a:rPr sz="4400" spc="-10" dirty="0"/>
              <a:t>column)</a:t>
            </a:r>
            <a:endParaRPr sz="4400"/>
          </a:p>
        </p:txBody>
      </p:sp>
      <p:graphicFrame>
        <p:nvGraphicFramePr>
          <p:cNvPr id="2" name="Table 1">
            <a:extLst>
              <a:ext uri="{FF2B5EF4-FFF2-40B4-BE49-F238E27FC236}">
                <a16:creationId xmlns:a16="http://schemas.microsoft.com/office/drawing/2014/main" id="{A1DA7951-0C5B-40F4-67D3-E17C19B8CA9D}"/>
              </a:ext>
            </a:extLst>
          </p:cNvPr>
          <p:cNvGraphicFramePr>
            <a:graphicFrameLocks noGrp="1"/>
          </p:cNvGraphicFramePr>
          <p:nvPr>
            <p:extLst>
              <p:ext uri="{D42A27DB-BD31-4B8C-83A1-F6EECF244321}">
                <p14:modId xmlns:p14="http://schemas.microsoft.com/office/powerpoint/2010/main" val="2678832718"/>
              </p:ext>
            </p:extLst>
          </p:nvPr>
        </p:nvGraphicFramePr>
        <p:xfrm>
          <a:off x="542919" y="1549208"/>
          <a:ext cx="10896606" cy="4611375"/>
        </p:xfrm>
        <a:graphic>
          <a:graphicData uri="http://schemas.openxmlformats.org/drawingml/2006/table">
            <a:tbl>
              <a:tblPr>
                <a:tableStyleId>{5A111915-BE36-4E01-A7E5-04B1672EAD32}</a:tableStyleId>
              </a:tblPr>
              <a:tblGrid>
                <a:gridCol w="1447800">
                  <a:extLst>
                    <a:ext uri="{9D8B030D-6E8A-4147-A177-3AD203B41FA5}">
                      <a16:colId xmlns:a16="http://schemas.microsoft.com/office/drawing/2014/main" val="3303376051"/>
                    </a:ext>
                  </a:extLst>
                </a:gridCol>
                <a:gridCol w="1665516">
                  <a:extLst>
                    <a:ext uri="{9D8B030D-6E8A-4147-A177-3AD203B41FA5}">
                      <a16:colId xmlns:a16="http://schemas.microsoft.com/office/drawing/2014/main" val="2708895479"/>
                    </a:ext>
                  </a:extLst>
                </a:gridCol>
                <a:gridCol w="1556658">
                  <a:extLst>
                    <a:ext uri="{9D8B030D-6E8A-4147-A177-3AD203B41FA5}">
                      <a16:colId xmlns:a16="http://schemas.microsoft.com/office/drawing/2014/main" val="3682779319"/>
                    </a:ext>
                  </a:extLst>
                </a:gridCol>
                <a:gridCol w="1556658">
                  <a:extLst>
                    <a:ext uri="{9D8B030D-6E8A-4147-A177-3AD203B41FA5}">
                      <a16:colId xmlns:a16="http://schemas.microsoft.com/office/drawing/2014/main" val="40493798"/>
                    </a:ext>
                  </a:extLst>
                </a:gridCol>
                <a:gridCol w="3113316">
                  <a:extLst>
                    <a:ext uri="{9D8B030D-6E8A-4147-A177-3AD203B41FA5}">
                      <a16:colId xmlns:a16="http://schemas.microsoft.com/office/drawing/2014/main" val="1497456777"/>
                    </a:ext>
                  </a:extLst>
                </a:gridCol>
                <a:gridCol w="1556658">
                  <a:extLst>
                    <a:ext uri="{9D8B030D-6E8A-4147-A177-3AD203B41FA5}">
                      <a16:colId xmlns:a16="http://schemas.microsoft.com/office/drawing/2014/main" val="1974597579"/>
                    </a:ext>
                  </a:extLst>
                </a:gridCol>
              </a:tblGrid>
              <a:tr h="468000">
                <a:tc>
                  <a:txBody>
                    <a:bodyPr/>
                    <a:lstStyle/>
                    <a:p>
                      <a:pPr algn="ctr">
                        <a:buNone/>
                      </a:pPr>
                      <a:r>
                        <a:rPr lang="en-IN" sz="1400" b="1" dirty="0"/>
                        <a:t>Paper Title</a:t>
                      </a:r>
                      <a:endParaRPr lang="en-IN" sz="1400" b="1" dirty="0">
                        <a:latin typeface="Times New Roman" panose="02020603050405020304" pitchFamily="18" charset="0"/>
                        <a:cs typeface="Times New Roman" panose="02020603050405020304" pitchFamily="18" charset="0"/>
                      </a:endParaRP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Source</a:t>
                      </a:r>
                      <a:endParaRPr lang="en-IN" sz="1400" b="1" dirty="0">
                        <a:latin typeface="Times New Roman" panose="02020603050405020304" pitchFamily="18" charset="0"/>
                        <a:cs typeface="Times New Roman" panose="02020603050405020304" pitchFamily="18" charset="0"/>
                      </a:endParaRP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Year</a:t>
                      </a:r>
                      <a:endParaRPr lang="en-IN" sz="1400" b="1" dirty="0">
                        <a:latin typeface="Times New Roman" panose="02020603050405020304" pitchFamily="18" charset="0"/>
                        <a:cs typeface="Times New Roman" panose="02020603050405020304" pitchFamily="18" charset="0"/>
                      </a:endParaRP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Techniques</a:t>
                      </a:r>
                      <a:endParaRPr lang="en-IN" sz="1400" b="1" dirty="0">
                        <a:latin typeface="Times New Roman" panose="02020603050405020304" pitchFamily="18" charset="0"/>
                        <a:cs typeface="Times New Roman" panose="02020603050405020304" pitchFamily="18" charset="0"/>
                      </a:endParaRP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Results</a:t>
                      </a:r>
                      <a:endParaRPr lang="en-IN" sz="1400" b="1" dirty="0">
                        <a:latin typeface="Times New Roman" panose="02020603050405020304" pitchFamily="18" charset="0"/>
                        <a:cs typeface="Times New Roman" panose="02020603050405020304" pitchFamily="18" charset="0"/>
                      </a:endParaRP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Limitations</a:t>
                      </a:r>
                      <a:endParaRPr lang="en-IN" sz="1400" b="1" dirty="0">
                        <a:latin typeface="Times New Roman" panose="02020603050405020304" pitchFamily="18" charset="0"/>
                        <a:cs typeface="Times New Roman" panose="02020603050405020304" pitchFamily="18" charset="0"/>
                      </a:endParaRP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72191713"/>
                  </a:ext>
                </a:extLst>
              </a:tr>
              <a:tr h="1341664">
                <a:tc>
                  <a:txBody>
                    <a:bodyPr/>
                    <a:lstStyle/>
                    <a:p>
                      <a:pPr>
                        <a:buNone/>
                      </a:pPr>
                      <a:r>
                        <a:rPr lang="en-US" sz="1400" dirty="0"/>
                        <a:t>Automatic Extraction of Structural Model from Semi-Structured SRS</a:t>
                      </a:r>
                      <a:endParaRPr lang="en-US"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IEEE Xplore</a:t>
                      </a:r>
                      <a:endParaRPr lang="en-IN"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2018</a:t>
                      </a:r>
                      <a:endParaRPr lang="en-IN"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NLP preprocessing, semantic analysis</a:t>
                      </a:r>
                      <a:endParaRPr lang="en-IN"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Extracts conceptual system models</a:t>
                      </a:r>
                      <a:endParaRPr lang="en-IN"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Difficult for complex requirements</a:t>
                      </a:r>
                      <a:endParaRPr lang="en-IN"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0161299"/>
                  </a:ext>
                </a:extLst>
              </a:tr>
              <a:tr h="1460047">
                <a:tc>
                  <a:txBody>
                    <a:bodyPr/>
                    <a:lstStyle/>
                    <a:p>
                      <a:pPr>
                        <a:buNone/>
                      </a:pPr>
                      <a:r>
                        <a:rPr lang="en-US" sz="1400" dirty="0"/>
                        <a:t>Assessing LLMs for Front-end Software Architecture Knowledge</a:t>
                      </a:r>
                      <a:endParaRPr lang="en-US"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latin typeface="Times New Roman" panose="02020603050405020304" pitchFamily="18" charset="0"/>
                          <a:cs typeface="Times New Roman" panose="02020603050405020304" pitchFamily="18" charset="0"/>
                        </a:rPr>
                        <a:t>ACM</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t>2024</a:t>
                      </a:r>
                      <a:endParaRPr lang="en-IN" sz="140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Prompt-based evaluation of LLM architecture reasoning</a:t>
                      </a:r>
                      <a:endParaRPr lang="en-US"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Shows LLMs understand architecture concepts</a:t>
                      </a:r>
                      <a:endParaRPr lang="en-US"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Does not generate full architectures</a:t>
                      </a:r>
                      <a:endParaRPr lang="en-US" sz="140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761940"/>
                  </a:ext>
                </a:extLst>
              </a:tr>
              <a:tr h="1341664">
                <a:tc>
                  <a:txBody>
                    <a:bodyPr/>
                    <a:lstStyle/>
                    <a:p>
                      <a:pPr>
                        <a:buNone/>
                      </a:pPr>
                      <a:r>
                        <a:rPr lang="en-US" sz="1400"/>
                        <a:t>Leveraging Generative AI for Architecture Knowledge Management</a:t>
                      </a:r>
                      <a:endParaRPr lang="en-US" sz="140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IN" sz="1400"/>
                        <a:t>IEEE Xplore</a:t>
                      </a:r>
                      <a:endParaRPr lang="en-IN" sz="140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IN" sz="1400"/>
                        <a:t>2024</a:t>
                      </a:r>
                      <a:endParaRPr lang="en-IN" sz="140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IN" sz="1400" dirty="0"/>
                        <a:t>Generative AI + semantic retrieval</a:t>
                      </a:r>
                      <a:endParaRPr lang="en-IN"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IN" sz="1400" dirty="0"/>
                        <a:t>Suggests architecture best practices</a:t>
                      </a:r>
                      <a:endParaRPr lang="en-IN"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US" sz="1400" dirty="0"/>
                        <a:t>Depends on knowledge base quality</a:t>
                      </a:r>
                      <a:endParaRPr lang="en-US" sz="1400" dirty="0">
                        <a:latin typeface="Times New Roman" panose="02020603050405020304" pitchFamily="18" charset="0"/>
                        <a:cs typeface="Times New Roman" panose="02020603050405020304" pitchFamily="18" charset="0"/>
                      </a:endParaRPr>
                    </a:p>
                  </a:txBody>
                  <a:tcPr marL="15804" marR="15804" marT="7902" marB="7902"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5050267"/>
                  </a:ext>
                </a:extLst>
              </a:tr>
            </a:tbl>
          </a:graphicData>
        </a:graphic>
      </p:graphicFrame>
    </p:spTree>
    <p:extLst>
      <p:ext uri="{BB962C8B-B14F-4D97-AF65-F5344CB8AC3E}">
        <p14:creationId xmlns:p14="http://schemas.microsoft.com/office/powerpoint/2010/main" val="992748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88DDB-BE83-F09E-1D4C-5CA7D25DC9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A3E1BC-47DE-C494-08DE-B197DD898948}"/>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a:extLst>
              <a:ext uri="{FF2B5EF4-FFF2-40B4-BE49-F238E27FC236}">
                <a16:creationId xmlns:a16="http://schemas.microsoft.com/office/drawing/2014/main" id="{ABEB0415-D1AC-7A77-D588-A74237D48138}"/>
              </a:ext>
            </a:extLst>
          </p:cNvPr>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a:extLst>
              <a:ext uri="{FF2B5EF4-FFF2-40B4-BE49-F238E27FC236}">
                <a16:creationId xmlns:a16="http://schemas.microsoft.com/office/drawing/2014/main" id="{4EFA548B-A80B-D648-5340-F6EE2BC0D78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6</a:t>
            </a:fld>
            <a:endParaRPr spc="-25" dirty="0"/>
          </a:p>
        </p:txBody>
      </p:sp>
      <p:sp>
        <p:nvSpPr>
          <p:cNvPr id="3" name="object 3">
            <a:extLst>
              <a:ext uri="{FF2B5EF4-FFF2-40B4-BE49-F238E27FC236}">
                <a16:creationId xmlns:a16="http://schemas.microsoft.com/office/drawing/2014/main" id="{DC150B1C-4FD4-30BF-01C8-340E2162945C}"/>
              </a:ext>
            </a:extLst>
          </p:cNvPr>
          <p:cNvSpPr txBox="1">
            <a:spLocks noGrp="1"/>
          </p:cNvSpPr>
          <p:nvPr>
            <p:ph type="title"/>
          </p:nvPr>
        </p:nvSpPr>
        <p:spPr>
          <a:xfrm>
            <a:off x="1905000" y="162369"/>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marL="139065">
              <a:lnSpc>
                <a:spcPct val="100000"/>
              </a:lnSpc>
              <a:spcBef>
                <a:spcPts val="1680"/>
              </a:spcBef>
              <a:tabLst>
                <a:tab pos="4199890" algn="l"/>
                <a:tab pos="6223635" algn="l"/>
              </a:tabLst>
            </a:pPr>
            <a:r>
              <a:rPr sz="4400" dirty="0"/>
              <a:t>Literature</a:t>
            </a:r>
            <a:r>
              <a:rPr sz="4400" spc="-50" dirty="0"/>
              <a:t> </a:t>
            </a:r>
            <a:r>
              <a:rPr sz="4400" spc="-10" dirty="0"/>
              <a:t>Survey</a:t>
            </a:r>
            <a:r>
              <a:rPr sz="4400" dirty="0"/>
              <a:t>	</a:t>
            </a:r>
            <a:r>
              <a:rPr sz="4400" spc="-10" dirty="0"/>
              <a:t>(Tabular</a:t>
            </a:r>
            <a:r>
              <a:rPr sz="4400" dirty="0"/>
              <a:t>	</a:t>
            </a:r>
            <a:r>
              <a:rPr sz="4400" spc="-10" dirty="0"/>
              <a:t>column)</a:t>
            </a:r>
            <a:endParaRPr sz="4400"/>
          </a:p>
        </p:txBody>
      </p:sp>
      <p:graphicFrame>
        <p:nvGraphicFramePr>
          <p:cNvPr id="7" name="Table 6">
            <a:extLst>
              <a:ext uri="{FF2B5EF4-FFF2-40B4-BE49-F238E27FC236}">
                <a16:creationId xmlns:a16="http://schemas.microsoft.com/office/drawing/2014/main" id="{6986D217-D29D-17F5-7BE9-69C965F7A020}"/>
              </a:ext>
            </a:extLst>
          </p:cNvPr>
          <p:cNvGraphicFramePr>
            <a:graphicFrameLocks noGrp="1"/>
          </p:cNvGraphicFramePr>
          <p:nvPr>
            <p:extLst>
              <p:ext uri="{D42A27DB-BD31-4B8C-83A1-F6EECF244321}">
                <p14:modId xmlns:p14="http://schemas.microsoft.com/office/powerpoint/2010/main" val="3011955022"/>
              </p:ext>
            </p:extLst>
          </p:nvPr>
        </p:nvGraphicFramePr>
        <p:xfrm>
          <a:off x="779461" y="1586915"/>
          <a:ext cx="10633077" cy="4611374"/>
        </p:xfrm>
        <a:graphic>
          <a:graphicData uri="http://schemas.openxmlformats.org/drawingml/2006/table">
            <a:tbl>
              <a:tblPr>
                <a:tableStyleId>{5A111915-BE36-4E01-A7E5-04B1672EAD32}</a:tableStyleId>
              </a:tblPr>
              <a:tblGrid>
                <a:gridCol w="1658939">
                  <a:extLst>
                    <a:ext uri="{9D8B030D-6E8A-4147-A177-3AD203B41FA5}">
                      <a16:colId xmlns:a16="http://schemas.microsoft.com/office/drawing/2014/main" val="3009951277"/>
                    </a:ext>
                  </a:extLst>
                </a:gridCol>
                <a:gridCol w="1379083">
                  <a:extLst>
                    <a:ext uri="{9D8B030D-6E8A-4147-A177-3AD203B41FA5}">
                      <a16:colId xmlns:a16="http://schemas.microsoft.com/office/drawing/2014/main" val="3538170534"/>
                    </a:ext>
                  </a:extLst>
                </a:gridCol>
                <a:gridCol w="1519011">
                  <a:extLst>
                    <a:ext uri="{9D8B030D-6E8A-4147-A177-3AD203B41FA5}">
                      <a16:colId xmlns:a16="http://schemas.microsoft.com/office/drawing/2014/main" val="3572894405"/>
                    </a:ext>
                  </a:extLst>
                </a:gridCol>
                <a:gridCol w="1750106">
                  <a:extLst>
                    <a:ext uri="{9D8B030D-6E8A-4147-A177-3AD203B41FA5}">
                      <a16:colId xmlns:a16="http://schemas.microsoft.com/office/drawing/2014/main" val="3176356125"/>
                    </a:ext>
                  </a:extLst>
                </a:gridCol>
                <a:gridCol w="2806927">
                  <a:extLst>
                    <a:ext uri="{9D8B030D-6E8A-4147-A177-3AD203B41FA5}">
                      <a16:colId xmlns:a16="http://schemas.microsoft.com/office/drawing/2014/main" val="2236474775"/>
                    </a:ext>
                  </a:extLst>
                </a:gridCol>
                <a:gridCol w="1519011">
                  <a:extLst>
                    <a:ext uri="{9D8B030D-6E8A-4147-A177-3AD203B41FA5}">
                      <a16:colId xmlns:a16="http://schemas.microsoft.com/office/drawing/2014/main" val="3817281065"/>
                    </a:ext>
                  </a:extLst>
                </a:gridCol>
              </a:tblGrid>
              <a:tr h="468000">
                <a:tc>
                  <a:txBody>
                    <a:bodyPr/>
                    <a:lstStyle/>
                    <a:p>
                      <a:pPr algn="ctr">
                        <a:buNone/>
                      </a:pPr>
                      <a:r>
                        <a:rPr lang="en-IN" sz="1400" b="1" dirty="0"/>
                        <a:t>Paper Title</a:t>
                      </a: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Source</a:t>
                      </a: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Year</a:t>
                      </a: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Techniques</a:t>
                      </a: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Results</a:t>
                      </a: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buNone/>
                      </a:pPr>
                      <a:r>
                        <a:rPr lang="en-IN" sz="1400" b="1" dirty="0"/>
                        <a:t>Limitations</a:t>
                      </a:r>
                    </a:p>
                  </a:txBody>
                  <a:tcPr marL="15804" marR="15804" marT="7902" marB="7902" anchor="ct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1604707"/>
                  </a:ext>
                </a:extLst>
              </a:tr>
              <a:tr h="1341664">
                <a:tc>
                  <a:txBody>
                    <a:bodyPr/>
                    <a:lstStyle/>
                    <a:p>
                      <a:pPr>
                        <a:buNone/>
                      </a:pPr>
                      <a:r>
                        <a:rPr lang="en-US" sz="1400" dirty="0"/>
                        <a:t>Two-Phase NLP-Driven Framework</a:t>
                      </a:r>
                    </a:p>
                    <a:p>
                      <a:pPr>
                        <a:buNone/>
                      </a:pPr>
                      <a:r>
                        <a:rPr lang="en-US" sz="1400" dirty="0"/>
                        <a:t>for Requirements Classification</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t>IEEE</a:t>
                      </a:r>
                      <a:endParaRPr lang="en-IN" sz="1400" dirty="0"/>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t>2022</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NLP preprocessing + CNN/LSTM models</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~90% accuracy in requirement classification</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t>Does not generate architecture</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972327"/>
                  </a:ext>
                </a:extLst>
              </a:tr>
              <a:tr h="1223282">
                <a:tc>
                  <a:txBody>
                    <a:bodyPr/>
                    <a:lstStyle/>
                    <a:p>
                      <a:pPr>
                        <a:buNone/>
                      </a:pPr>
                      <a:r>
                        <a:rPr lang="en-US" sz="1400" dirty="0"/>
                        <a:t>Identifying Non-Functional Requirements Using NLP and ML</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ACM Digital </a:t>
                      </a:r>
                    </a:p>
                    <a:p>
                      <a:pPr>
                        <a:buNone/>
                      </a:pPr>
                      <a:r>
                        <a:rPr lang="en-IN" sz="1400" dirty="0"/>
                        <a:t>Library</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2021</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TF-IDF, SVM, BERT</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Identifies NFRs such as security and scalability</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Requires </a:t>
                      </a:r>
                      <a:r>
                        <a:rPr lang="en-IN" sz="1400" dirty="0" err="1"/>
                        <a:t>labeled</a:t>
                      </a:r>
                      <a:r>
                        <a:rPr lang="en-IN" sz="1400" dirty="0"/>
                        <a:t> datasets</a:t>
                      </a:r>
                    </a:p>
                  </a:txBody>
                  <a:tcPr marL="15804" marR="15804" marT="7902" marB="790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435315"/>
                  </a:ext>
                </a:extLst>
              </a:tr>
              <a:tr h="1578428">
                <a:tc>
                  <a:txBody>
                    <a:bodyPr/>
                    <a:lstStyle/>
                    <a:p>
                      <a:pPr>
                        <a:buNone/>
                      </a:pPr>
                      <a:r>
                        <a:rPr lang="en-US" sz="1400"/>
                        <a:t>LLM-Assisted Approach to Designing Software Architectures Using ADD</a:t>
                      </a: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IN" sz="1400" dirty="0" err="1"/>
                        <a:t>arXiv</a:t>
                      </a:r>
                      <a:endParaRPr lang="en-IN" sz="1400" dirty="0"/>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IN" sz="1400"/>
                        <a:t>2024</a:t>
                      </a: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US" sz="1400" dirty="0"/>
                        <a:t>LLM reasoning with Architecture Decision Records</a:t>
                      </a: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US" sz="1400" dirty="0"/>
                        <a:t>Suggests architecture styles and trade-offs</a:t>
                      </a:r>
                    </a:p>
                  </a:txBody>
                  <a:tcPr marL="15804" marR="15804" marT="7902" marB="7902" anchor="ctr">
                    <a:lnT w="12700" cap="flat" cmpd="sng" algn="ctr">
                      <a:solidFill>
                        <a:schemeClr val="tx1"/>
                      </a:solidFill>
                      <a:prstDash val="solid"/>
                      <a:round/>
                      <a:headEnd type="none" w="med" len="med"/>
                      <a:tailEnd type="none" w="med" len="med"/>
                    </a:lnT>
                  </a:tcPr>
                </a:tc>
                <a:tc>
                  <a:txBody>
                    <a:bodyPr/>
                    <a:lstStyle/>
                    <a:p>
                      <a:pPr>
                        <a:buNone/>
                      </a:pPr>
                      <a:r>
                        <a:rPr lang="en-IN" sz="1400" dirty="0"/>
                        <a:t>Requires human validation</a:t>
                      </a:r>
                    </a:p>
                  </a:txBody>
                  <a:tcPr marL="15804" marR="15804" marT="7902" marB="7902"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93512075"/>
                  </a:ext>
                </a:extLst>
              </a:tr>
            </a:tbl>
          </a:graphicData>
        </a:graphic>
      </p:graphicFrame>
    </p:spTree>
    <p:extLst>
      <p:ext uri="{BB962C8B-B14F-4D97-AF65-F5344CB8AC3E}">
        <p14:creationId xmlns:p14="http://schemas.microsoft.com/office/powerpoint/2010/main" val="2815392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682625" y="6445271"/>
            <a:ext cx="567690" cy="179536"/>
          </a:xfrm>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455" y="6389585"/>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sldNum" sz="quarter" idx="7"/>
          </p:nvPr>
        </p:nvSpPr>
        <p:spPr>
          <a:xfrm>
            <a:off x="11331575" y="6445271"/>
            <a:ext cx="215900" cy="179536"/>
          </a:xfrm>
          <a:prstGeom prst="rect">
            <a:avLst/>
          </a:prstGeom>
        </p:spPr>
        <p:txBody>
          <a:bodyPr vert="horz" wrap="square" lIns="0" tIns="0" rIns="0" bIns="0" rtlCol="0">
            <a:spAutoFit/>
          </a:bodyPr>
          <a:lstStyle/>
          <a:p>
            <a:pPr marL="12700">
              <a:lnSpc>
                <a:spcPts val="1410"/>
              </a:lnSpc>
            </a:pPr>
            <a:fld id="{81D60167-4931-47E6-BA6A-407CBD079E47}" type="slidenum">
              <a:rPr spc="-25" dirty="0"/>
              <a:t>7</a:t>
            </a:fld>
            <a:endParaRPr spc="-25" dirty="0"/>
          </a:p>
        </p:txBody>
      </p:sp>
      <p:sp>
        <p:nvSpPr>
          <p:cNvPr id="3" name="object 3"/>
          <p:cNvSpPr txBox="1">
            <a:spLocks noGrp="1"/>
          </p:cNvSpPr>
          <p:nvPr>
            <p:ph type="title"/>
          </p:nvPr>
        </p:nvSpPr>
        <p:spPr>
          <a:xfrm>
            <a:off x="1877567" y="305070"/>
            <a:ext cx="8229600" cy="892552"/>
          </a:xfrm>
          <a:prstGeom prst="rect">
            <a:avLst/>
          </a:prstGeom>
          <a:solidFill>
            <a:srgbClr val="DAE4F1"/>
          </a:solidFill>
          <a:ln w="19049">
            <a:solidFill>
              <a:srgbClr val="632423"/>
            </a:solidFill>
          </a:ln>
        </p:spPr>
        <p:txBody>
          <a:bodyPr vert="horz" wrap="square" lIns="0" tIns="213360" rIns="0" bIns="0" rtlCol="0">
            <a:spAutoFit/>
          </a:bodyPr>
          <a:lstStyle/>
          <a:p>
            <a:pPr marL="879475">
              <a:lnSpc>
                <a:spcPct val="100000"/>
              </a:lnSpc>
              <a:spcBef>
                <a:spcPts val="1680"/>
              </a:spcBef>
            </a:pPr>
            <a:r>
              <a:rPr sz="4400" dirty="0"/>
              <a:t>Literature</a:t>
            </a:r>
            <a:r>
              <a:rPr sz="4400" spc="-60" dirty="0"/>
              <a:t> </a:t>
            </a:r>
            <a:r>
              <a:rPr sz="4400" spc="-10" dirty="0"/>
              <a:t>Survey(Summary)</a:t>
            </a:r>
            <a:endParaRPr sz="4400"/>
          </a:p>
        </p:txBody>
      </p:sp>
      <p:graphicFrame>
        <p:nvGraphicFramePr>
          <p:cNvPr id="7" name="Table 6">
            <a:extLst>
              <a:ext uri="{FF2B5EF4-FFF2-40B4-BE49-F238E27FC236}">
                <a16:creationId xmlns:a16="http://schemas.microsoft.com/office/drawing/2014/main" id="{F6EE73D6-21FF-2630-9D55-BD5848E22C28}"/>
              </a:ext>
            </a:extLst>
          </p:cNvPr>
          <p:cNvGraphicFramePr>
            <a:graphicFrameLocks noGrp="1"/>
          </p:cNvGraphicFramePr>
          <p:nvPr>
            <p:extLst>
              <p:ext uri="{D42A27DB-BD31-4B8C-83A1-F6EECF244321}">
                <p14:modId xmlns:p14="http://schemas.microsoft.com/office/powerpoint/2010/main" val="284318950"/>
              </p:ext>
            </p:extLst>
          </p:nvPr>
        </p:nvGraphicFramePr>
        <p:xfrm>
          <a:off x="1496567" y="1823967"/>
          <a:ext cx="8991600" cy="3977676"/>
        </p:xfrm>
        <a:graphic>
          <a:graphicData uri="http://schemas.openxmlformats.org/drawingml/2006/table">
            <a:tbl>
              <a:tblPr>
                <a:tableStyleId>{5A111915-BE36-4E01-A7E5-04B1672EAD32}</a:tableStyleId>
              </a:tblPr>
              <a:tblGrid>
                <a:gridCol w="4370833">
                  <a:extLst>
                    <a:ext uri="{9D8B030D-6E8A-4147-A177-3AD203B41FA5}">
                      <a16:colId xmlns:a16="http://schemas.microsoft.com/office/drawing/2014/main" val="3037844476"/>
                    </a:ext>
                  </a:extLst>
                </a:gridCol>
                <a:gridCol w="4620767">
                  <a:extLst>
                    <a:ext uri="{9D8B030D-6E8A-4147-A177-3AD203B41FA5}">
                      <a16:colId xmlns:a16="http://schemas.microsoft.com/office/drawing/2014/main" val="2743842819"/>
                    </a:ext>
                  </a:extLst>
                </a:gridCol>
              </a:tblGrid>
              <a:tr h="420255">
                <a:tc>
                  <a:txBody>
                    <a:bodyPr/>
                    <a:lstStyle/>
                    <a:p>
                      <a:pPr algn="ctr">
                        <a:buNone/>
                      </a:pPr>
                      <a:r>
                        <a:rPr lang="en-IN" sz="1500" b="1" dirty="0"/>
                        <a:t>Existing Systems</a:t>
                      </a:r>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solidFill>
                      <a:schemeClr val="accent5">
                        <a:lumMod val="20000"/>
                        <a:lumOff val="80000"/>
                      </a:schemeClr>
                    </a:solidFill>
                  </a:tcPr>
                </a:tc>
                <a:tc>
                  <a:txBody>
                    <a:bodyPr/>
                    <a:lstStyle/>
                    <a:p>
                      <a:pPr algn="ctr">
                        <a:buNone/>
                      </a:pPr>
                      <a:r>
                        <a:rPr lang="en-IN" sz="1500" b="1" dirty="0"/>
                        <a:t>Proposed System (AI System Design Engine)</a:t>
                      </a:r>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solidFill>
                      <a:schemeClr val="accent5">
                        <a:lumMod val="20000"/>
                        <a:lumOff val="80000"/>
                      </a:schemeClr>
                    </a:solidFill>
                  </a:tcPr>
                </a:tc>
                <a:extLst>
                  <a:ext uri="{0D108BD9-81ED-4DB2-BD59-A6C34878D82A}">
                    <a16:rowId xmlns:a16="http://schemas.microsoft.com/office/drawing/2014/main" val="977181332"/>
                  </a:ext>
                </a:extLst>
              </a:tr>
              <a:tr h="600363">
                <a:tc>
                  <a:txBody>
                    <a:bodyPr/>
                    <a:lstStyle/>
                    <a:p>
                      <a:pPr>
                        <a:buNone/>
                      </a:pPr>
                      <a:r>
                        <a:rPr lang="en-IN" sz="1500" b="1" dirty="0"/>
                        <a:t>Single-task solutions</a:t>
                      </a:r>
                      <a:r>
                        <a:rPr lang="en-IN" sz="1500" dirty="0"/>
                        <a:t> (UML generation, requirement classification)</a:t>
                      </a:r>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US" sz="1500" b="1" dirty="0"/>
                        <a:t>    End-to-end pipeline</a:t>
                      </a:r>
                      <a:r>
                        <a:rPr lang="en-US" sz="1500" dirty="0"/>
                        <a:t> (Prompt → Requirements → HLD </a:t>
                      </a:r>
                    </a:p>
                    <a:p>
                      <a:pPr>
                        <a:buNone/>
                      </a:pPr>
                      <a:r>
                        <a:rPr lang="en-US" sz="1500" dirty="0"/>
                        <a:t>    → LLD)</a:t>
                      </a:r>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3165085068"/>
                  </a:ext>
                </a:extLst>
              </a:tr>
              <a:tr h="420255">
                <a:tc>
                  <a:txBody>
                    <a:bodyPr/>
                    <a:lstStyle/>
                    <a:p>
                      <a:pPr>
                        <a:buNone/>
                      </a:pPr>
                      <a:r>
                        <a:rPr lang="en-IN" sz="1500" b="1" dirty="0"/>
                        <a:t>NLP / ML only approaches</a:t>
                      </a:r>
                      <a:endParaRPr lang="en-IN" sz="1500" dirty="0"/>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US" sz="1500" b="1" dirty="0"/>
                        <a:t>    Hybrid AI</a:t>
                      </a:r>
                      <a:r>
                        <a:rPr lang="en-US" sz="1500" dirty="0"/>
                        <a:t> (LLM + RAG + Rule Engine)</a:t>
                      </a:r>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3914259702"/>
                  </a:ext>
                </a:extLst>
              </a:tr>
              <a:tr h="600363">
                <a:tc>
                  <a:txBody>
                    <a:bodyPr/>
                    <a:lstStyle/>
                    <a:p>
                      <a:pPr>
                        <a:buNone/>
                      </a:pPr>
                      <a:r>
                        <a:rPr lang="en-US" sz="1500" b="1" dirty="0"/>
                        <a:t>Limited outputs</a:t>
                      </a:r>
                      <a:r>
                        <a:rPr lang="en-US" sz="1500" dirty="0"/>
                        <a:t> (UML / structural models)</a:t>
                      </a:r>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US" sz="1500" b="1" dirty="0"/>
                        <a:t>    Full architecture output</a:t>
                      </a:r>
                      <a:r>
                        <a:rPr lang="en-US" sz="1500" dirty="0"/>
                        <a:t> (components, DB, APIs, tech </a:t>
                      </a:r>
                    </a:p>
                    <a:p>
                      <a:pPr>
                        <a:buNone/>
                      </a:pPr>
                      <a:r>
                        <a:rPr lang="en-US" sz="1500" dirty="0"/>
                        <a:t>    stack)</a:t>
                      </a:r>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4094085601"/>
                  </a:ext>
                </a:extLst>
              </a:tr>
              <a:tr h="240146">
                <a:tc>
                  <a:txBody>
                    <a:bodyPr/>
                    <a:lstStyle/>
                    <a:p>
                      <a:pPr>
                        <a:buNone/>
                      </a:pPr>
                      <a:r>
                        <a:rPr lang="en-IN" sz="1500" b="1" dirty="0"/>
                        <a:t>No architecture validation</a:t>
                      </a:r>
                      <a:endParaRPr lang="en-IN" sz="1500" dirty="0"/>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IN" sz="1500" b="1" dirty="0"/>
                        <a:t>    Architecture validation engine</a:t>
                      </a:r>
                      <a:endParaRPr lang="en-IN" sz="1500" dirty="0"/>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2825944111"/>
                  </a:ext>
                </a:extLst>
              </a:tr>
              <a:tr h="420255">
                <a:tc>
                  <a:txBody>
                    <a:bodyPr/>
                    <a:lstStyle/>
                    <a:p>
                      <a:pPr>
                        <a:buNone/>
                      </a:pPr>
                      <a:r>
                        <a:rPr lang="en-IN" sz="1500" b="1" dirty="0"/>
                        <a:t>No explainability</a:t>
                      </a:r>
                      <a:endParaRPr lang="en-IN" sz="1500" dirty="0"/>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US" sz="1500" b="1" dirty="0"/>
                        <a:t>    Explainable AI for design decisions</a:t>
                      </a:r>
                      <a:endParaRPr lang="en-US" sz="1500" dirty="0"/>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278892516"/>
                  </a:ext>
                </a:extLst>
              </a:tr>
              <a:tr h="420255">
                <a:tc>
                  <a:txBody>
                    <a:bodyPr/>
                    <a:lstStyle/>
                    <a:p>
                      <a:pPr>
                        <a:buNone/>
                      </a:pPr>
                      <a:r>
                        <a:rPr lang="en-IN" sz="1500" b="1" dirty="0"/>
                        <a:t>No infrastructure cost analysis</a:t>
                      </a:r>
                      <a:endParaRPr lang="en-IN" sz="1500" dirty="0"/>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US" sz="1500" b="1" dirty="0"/>
                        <a:t>   Cloud cost estimation (AWS/GCP/Azure)</a:t>
                      </a:r>
                      <a:endParaRPr lang="en-US" sz="1500" dirty="0"/>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589650048"/>
                  </a:ext>
                </a:extLst>
              </a:tr>
              <a:tr h="420255">
                <a:tc>
                  <a:txBody>
                    <a:bodyPr/>
                    <a:lstStyle/>
                    <a:p>
                      <a:pPr>
                        <a:buNone/>
                      </a:pPr>
                      <a:r>
                        <a:rPr lang="en-IN" sz="1500" b="1" dirty="0"/>
                        <a:t>Static outputs</a:t>
                      </a:r>
                      <a:endParaRPr lang="en-IN" sz="1500" dirty="0"/>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IN" sz="1500" b="1" dirty="0"/>
                        <a:t>   Architecture evolution &amp; versioning</a:t>
                      </a:r>
                      <a:endParaRPr lang="en-IN" sz="1500" dirty="0"/>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3899750321"/>
                  </a:ext>
                </a:extLst>
              </a:tr>
              <a:tr h="420255">
                <a:tc>
                  <a:txBody>
                    <a:bodyPr/>
                    <a:lstStyle/>
                    <a:p>
                      <a:pPr>
                        <a:buNone/>
                      </a:pPr>
                      <a:r>
                        <a:rPr lang="en-IN" sz="1500" b="1" dirty="0"/>
                        <a:t>Limited knowledge base</a:t>
                      </a:r>
                      <a:endParaRPr lang="en-IN" sz="1500" dirty="0"/>
                    </a:p>
                  </a:txBody>
                  <a:tcPr marL="26819" marR="26819" marT="13410" marB="13410" anchor="ctr">
                    <a:lnR w="12700" cap="flat" cmpd="sng" algn="ctr">
                      <a:solidFill>
                        <a:schemeClr val="accent5">
                          <a:lumMod val="40000"/>
                          <a:lumOff val="60000"/>
                        </a:schemeClr>
                      </a:solidFill>
                      <a:prstDash val="solid"/>
                      <a:round/>
                      <a:headEnd type="none" w="med" len="med"/>
                      <a:tailEnd type="none" w="med" len="med"/>
                    </a:lnR>
                  </a:tcPr>
                </a:tc>
                <a:tc>
                  <a:txBody>
                    <a:bodyPr/>
                    <a:lstStyle/>
                    <a:p>
                      <a:pPr>
                        <a:buNone/>
                      </a:pPr>
                      <a:r>
                        <a:rPr lang="en-IN" sz="1500" b="1" dirty="0"/>
                        <a:t>   RAG-based architecture knowledge retrieval</a:t>
                      </a:r>
                      <a:endParaRPr lang="en-IN" sz="1500" dirty="0"/>
                    </a:p>
                  </a:txBody>
                  <a:tcPr marL="26819" marR="26819" marT="13410" marB="13410" anchor="ctr">
                    <a:lnL w="12700" cap="flat" cmpd="sng" algn="ctr">
                      <a:solidFill>
                        <a:schemeClr val="accent5">
                          <a:lumMod val="40000"/>
                          <a:lumOff val="60000"/>
                        </a:schemeClr>
                      </a:solidFill>
                      <a:prstDash val="solid"/>
                      <a:round/>
                      <a:headEnd type="none" w="med" len="med"/>
                      <a:tailEnd type="none" w="med" len="med"/>
                    </a:lnL>
                  </a:tcPr>
                </a:tc>
                <a:extLst>
                  <a:ext uri="{0D108BD9-81ED-4DB2-BD59-A6C34878D82A}">
                    <a16:rowId xmlns:a16="http://schemas.microsoft.com/office/drawing/2014/main" val="284283239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7" name="object 7"/>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sp>
        <p:nvSpPr>
          <p:cNvPr id="5" name="object 5"/>
          <p:cNvSpPr txBox="1">
            <a:spLocks noGrp="1"/>
          </p:cNvSpPr>
          <p:nvPr>
            <p:ph type="title"/>
          </p:nvPr>
        </p:nvSpPr>
        <p:spPr>
          <a:xfrm>
            <a:off x="1981200" y="63482"/>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marL="635" algn="ctr">
              <a:lnSpc>
                <a:spcPct val="100000"/>
              </a:lnSpc>
              <a:spcBef>
                <a:spcPts val="1680"/>
              </a:spcBef>
              <a:tabLst>
                <a:tab pos="2188210" algn="l"/>
                <a:tab pos="3258820" algn="l"/>
              </a:tabLst>
            </a:pPr>
            <a:r>
              <a:rPr sz="4400" spc="-10" dirty="0"/>
              <a:t>Research</a:t>
            </a:r>
            <a:r>
              <a:rPr sz="4400" dirty="0"/>
              <a:t>	</a:t>
            </a:r>
            <a:r>
              <a:rPr sz="4400" spc="-25" dirty="0"/>
              <a:t>Gap</a:t>
            </a:r>
            <a:r>
              <a:rPr sz="4400" dirty="0"/>
              <a:t>	</a:t>
            </a:r>
            <a:r>
              <a:rPr sz="4400" spc="-10" dirty="0"/>
              <a:t>Identified</a:t>
            </a:r>
            <a:endParaRPr sz="4400" dirty="0"/>
          </a:p>
        </p:txBody>
      </p:sp>
      <p:sp>
        <p:nvSpPr>
          <p:cNvPr id="9" name="TextBox 8">
            <a:extLst>
              <a:ext uri="{FF2B5EF4-FFF2-40B4-BE49-F238E27FC236}">
                <a16:creationId xmlns:a16="http://schemas.microsoft.com/office/drawing/2014/main" id="{D100F1AD-85DC-1E3F-0B41-857CF7082703}"/>
              </a:ext>
            </a:extLst>
          </p:cNvPr>
          <p:cNvSpPr txBox="1"/>
          <p:nvPr/>
        </p:nvSpPr>
        <p:spPr>
          <a:xfrm>
            <a:off x="474662" y="1447800"/>
            <a:ext cx="11242675" cy="4862870"/>
          </a:xfrm>
          <a:prstGeom prst="rect">
            <a:avLst/>
          </a:prstGeom>
          <a:noFill/>
        </p:spPr>
        <p:txBody>
          <a:bodyPr wrap="square" rtlCol="0">
            <a:spAutoFit/>
          </a:bodyPr>
          <a:lstStyle/>
          <a:p>
            <a:pPr marL="285750" indent="-285750" algn="just">
              <a:buFont typeface="Wingdings" panose="05000000000000000000" pitchFamily="2" charset="2"/>
              <a:buChar char="v"/>
            </a:pPr>
            <a:r>
              <a:rPr lang="en-US" sz="1550" b="1" dirty="0">
                <a:latin typeface="Times New Roman" panose="02020603050405020304" pitchFamily="18" charset="0"/>
                <a:cs typeface="Times New Roman" panose="02020603050405020304" pitchFamily="18" charset="0"/>
              </a:rPr>
              <a:t>What existing works are missing</a:t>
            </a:r>
            <a:endParaRPr lang="en-US" sz="155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Existing works generate only </a:t>
            </a:r>
            <a:r>
              <a:rPr lang="en-US" sz="1550" b="1" dirty="0">
                <a:latin typeface="Times New Roman" panose="02020603050405020304" pitchFamily="18" charset="0"/>
                <a:cs typeface="Times New Roman" panose="02020603050405020304" pitchFamily="18" charset="0"/>
              </a:rPr>
              <a:t>specific design artifacts </a:t>
            </a:r>
            <a:r>
              <a:rPr lang="en-US" sz="1550" dirty="0">
                <a:latin typeface="Times New Roman" panose="02020603050405020304" pitchFamily="18" charset="0"/>
                <a:cs typeface="Times New Roman" panose="02020603050405020304" pitchFamily="18" charset="0"/>
              </a:rPr>
              <a:t>(e.g., UML diagrams or requirement classifications) instead of </a:t>
            </a:r>
            <a:r>
              <a:rPr lang="en-US" sz="1550" b="1" dirty="0">
                <a:latin typeface="Times New Roman" panose="02020603050405020304" pitchFamily="18" charset="0"/>
                <a:cs typeface="Times New Roman" panose="02020603050405020304" pitchFamily="18" charset="0"/>
              </a:rPr>
              <a:t>complete system architectures</a:t>
            </a:r>
            <a:r>
              <a:rPr lang="en-US" sz="155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Current research does not provide a system that converts </a:t>
            </a:r>
            <a:r>
              <a:rPr lang="en-US" sz="1550" b="1" dirty="0">
                <a:latin typeface="Times New Roman" panose="02020603050405020304" pitchFamily="18" charset="0"/>
                <a:cs typeface="Times New Roman" panose="02020603050405020304" pitchFamily="18" charset="0"/>
              </a:rPr>
              <a:t>natural language requirements into both High-Level Design (HLD) and Low-Level Design (LLD).</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Most approaches do not integrate </a:t>
            </a:r>
            <a:r>
              <a:rPr lang="en-US" sz="1550" b="1" dirty="0">
                <a:latin typeface="Times New Roman" panose="02020603050405020304" pitchFamily="18" charset="0"/>
                <a:cs typeface="Times New Roman" panose="02020603050405020304" pitchFamily="18" charset="0"/>
              </a:rPr>
              <a:t>multiple system design components </a:t>
            </a:r>
            <a:r>
              <a:rPr lang="en-US" sz="1550" dirty="0">
                <a:latin typeface="Times New Roman" panose="02020603050405020304" pitchFamily="18" charset="0"/>
                <a:cs typeface="Times New Roman" panose="02020603050405020304" pitchFamily="18" charset="0"/>
              </a:rPr>
              <a:t>such as architecture style, database design, API structure, and deployment configuration.</a:t>
            </a:r>
          </a:p>
          <a:p>
            <a:pPr algn="just"/>
            <a:endParaRPr lang="en-US" sz="155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1550" b="1" dirty="0">
                <a:latin typeface="Times New Roman" panose="02020603050405020304" pitchFamily="18" charset="0"/>
                <a:cs typeface="Times New Roman" panose="02020603050405020304" pitchFamily="18" charset="0"/>
              </a:rPr>
              <a:t>Why current solutions are insufficient</a:t>
            </a:r>
            <a:endParaRPr lang="en-US" sz="155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Generate </a:t>
            </a:r>
            <a:r>
              <a:rPr lang="en-US" sz="1550" b="1" dirty="0">
                <a:latin typeface="Times New Roman" panose="02020603050405020304" pitchFamily="18" charset="0"/>
                <a:cs typeface="Times New Roman" panose="02020603050405020304" pitchFamily="18" charset="0"/>
              </a:rPr>
              <a:t>only partial outputs</a:t>
            </a:r>
            <a:r>
              <a:rPr lang="en-US" sz="1550" dirty="0">
                <a:latin typeface="Times New Roman" panose="02020603050405020304" pitchFamily="18" charset="0"/>
                <a:cs typeface="Times New Roman" panose="02020603050405020304" pitchFamily="18" charset="0"/>
              </a:rPr>
              <a:t> (e.g., UML diagrams or requirement labels).</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Lack </a:t>
            </a:r>
            <a:r>
              <a:rPr lang="en-US" sz="1550" b="1" dirty="0">
                <a:latin typeface="Times New Roman" panose="02020603050405020304" pitchFamily="18" charset="0"/>
                <a:cs typeface="Times New Roman" panose="02020603050405020304" pitchFamily="18" charset="0"/>
              </a:rPr>
              <a:t>complete architecture generation (HLD + LLD)</a:t>
            </a:r>
            <a:r>
              <a:rPr lang="en-US" sz="1550" dirty="0">
                <a:latin typeface="Times New Roman" panose="02020603050405020304" pitchFamily="18" charset="0"/>
                <a:cs typeface="Times New Roman" panose="02020603050405020304" pitchFamily="18" charset="0"/>
              </a:rPr>
              <a:t> from natural language.</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Do not integrate </a:t>
            </a:r>
            <a:r>
              <a:rPr lang="en-US" sz="1550" b="1" dirty="0">
                <a:latin typeface="Times New Roman" panose="02020603050405020304" pitchFamily="18" charset="0"/>
                <a:cs typeface="Times New Roman" panose="02020603050405020304" pitchFamily="18" charset="0"/>
              </a:rPr>
              <a:t>multiple design aspects</a:t>
            </a:r>
            <a:r>
              <a:rPr lang="en-US" sz="1550" dirty="0">
                <a:latin typeface="Times New Roman" panose="02020603050405020304" pitchFamily="18" charset="0"/>
                <a:cs typeface="Times New Roman" panose="02020603050405020304" pitchFamily="18" charset="0"/>
              </a:rPr>
              <a:t> (architecture, database, APIs, deployment).</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Lack </a:t>
            </a:r>
            <a:r>
              <a:rPr lang="en-US" sz="1550" b="1" dirty="0">
                <a:latin typeface="Times New Roman" panose="02020603050405020304" pitchFamily="18" charset="0"/>
                <a:cs typeface="Times New Roman" panose="02020603050405020304" pitchFamily="18" charset="0"/>
              </a:rPr>
              <a:t>knowledge-based reasoning</a:t>
            </a:r>
            <a:r>
              <a:rPr lang="en-US" sz="1550" dirty="0">
                <a:latin typeface="Times New Roman" panose="02020603050405020304" pitchFamily="18" charset="0"/>
                <a:cs typeface="Times New Roman" panose="02020603050405020304" pitchFamily="18" charset="0"/>
              </a:rPr>
              <a:t> using architecture patterns and best practices.</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Do not include </a:t>
            </a:r>
            <a:r>
              <a:rPr lang="en-US" sz="1550" b="1" dirty="0">
                <a:latin typeface="Times New Roman" panose="02020603050405020304" pitchFamily="18" charset="0"/>
                <a:cs typeface="Times New Roman" panose="02020603050405020304" pitchFamily="18" charset="0"/>
              </a:rPr>
              <a:t>architecture validation for feasibility and consistency</a:t>
            </a:r>
            <a:r>
              <a:rPr lang="en-US" sz="1550" dirty="0">
                <a:latin typeface="Times New Roman" panose="02020603050405020304" pitchFamily="18" charset="0"/>
                <a:cs typeface="Times New Roman" panose="02020603050405020304" pitchFamily="18" charset="0"/>
              </a:rPr>
              <a:t>.</a:t>
            </a:r>
          </a:p>
          <a:p>
            <a:pPr algn="just"/>
            <a:endParaRPr lang="en-US" sz="155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1550" b="1" dirty="0">
                <a:latin typeface="Times New Roman" panose="02020603050405020304" pitchFamily="18" charset="0"/>
                <a:cs typeface="Times New Roman" panose="02020603050405020304" pitchFamily="18" charset="0"/>
              </a:rPr>
              <a:t>What improvement is required</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Develop an </a:t>
            </a:r>
            <a:r>
              <a:rPr lang="en-US" sz="1550" b="1" dirty="0">
                <a:latin typeface="Times New Roman" panose="02020603050405020304" pitchFamily="18" charset="0"/>
                <a:cs typeface="Times New Roman" panose="02020603050405020304" pitchFamily="18" charset="0"/>
              </a:rPr>
              <a:t>AI system that generates complete system architecture (HLD + LLD) from natural language requirements</a:t>
            </a:r>
            <a:r>
              <a:rPr lang="en-US" sz="155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Integrate </a:t>
            </a:r>
            <a:r>
              <a:rPr lang="en-US" sz="1550" b="1" dirty="0">
                <a:latin typeface="Times New Roman" panose="02020603050405020304" pitchFamily="18" charset="0"/>
                <a:cs typeface="Times New Roman" panose="02020603050405020304" pitchFamily="18" charset="0"/>
              </a:rPr>
              <a:t>LLM reasoning with architecture knowledge retrieval (RAG)</a:t>
            </a:r>
            <a:r>
              <a:rPr lang="en-US" sz="1550" dirty="0">
                <a:latin typeface="Times New Roman" panose="02020603050405020304" pitchFamily="18" charset="0"/>
                <a:cs typeface="Times New Roman" panose="02020603050405020304" pitchFamily="18" charset="0"/>
              </a:rPr>
              <a:t> for informed design decisions.</a:t>
            </a:r>
          </a:p>
          <a:p>
            <a:pPr marL="285750" indent="-285750" algn="just">
              <a:buFont typeface="Arial" panose="020B0604020202020204" pitchFamily="34" charset="0"/>
              <a:buChar char="•"/>
            </a:pPr>
            <a:r>
              <a:rPr lang="en-US" sz="1550" dirty="0">
                <a:latin typeface="Times New Roman" panose="02020603050405020304" pitchFamily="18" charset="0"/>
                <a:cs typeface="Times New Roman" panose="02020603050405020304" pitchFamily="18" charset="0"/>
              </a:rPr>
              <a:t>Include </a:t>
            </a:r>
            <a:r>
              <a:rPr lang="en-US" sz="1550" b="1" dirty="0">
                <a:latin typeface="Times New Roman" panose="02020603050405020304" pitchFamily="18" charset="0"/>
                <a:cs typeface="Times New Roman" panose="02020603050405020304" pitchFamily="18" charset="0"/>
              </a:rPr>
              <a:t>validation mechanisms to ensure feasible and consistent architecture designs</a:t>
            </a:r>
            <a:r>
              <a:rPr lang="en-US" sz="1550" dirty="0">
                <a:latin typeface="Times New Roman" panose="02020603050405020304" pitchFamily="18" charset="0"/>
                <a:cs typeface="Times New Roman" panose="02020603050405020304" pitchFamily="18" charset="0"/>
              </a:rPr>
              <a:t>.</a:t>
            </a:r>
          </a:p>
          <a:p>
            <a:pPr algn="just"/>
            <a:endParaRPr lang="en-US" sz="15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tabLst>
                <a:tab pos="2219325" algn="l"/>
              </a:tabLst>
            </a:pPr>
            <a:r>
              <a:rPr sz="4400" spc="-10" dirty="0"/>
              <a:t>Proposed</a:t>
            </a:r>
            <a:r>
              <a:rPr sz="4400" dirty="0"/>
              <a:t>	</a:t>
            </a:r>
            <a:r>
              <a:rPr sz="4400" spc="-10" dirty="0"/>
              <a:t>System</a:t>
            </a:r>
            <a:endParaRPr sz="4400" dirty="0"/>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9</a:t>
            </a:fld>
            <a:endParaRPr spc="-25" dirty="0"/>
          </a:p>
        </p:txBody>
      </p:sp>
      <p:sp>
        <p:nvSpPr>
          <p:cNvPr id="14" name="Rectangle 4">
            <a:extLst>
              <a:ext uri="{FF2B5EF4-FFF2-40B4-BE49-F238E27FC236}">
                <a16:creationId xmlns:a16="http://schemas.microsoft.com/office/drawing/2014/main" id="{1F4A7E78-EAEE-8804-3FCF-94F5EB447B68}"/>
              </a:ext>
            </a:extLst>
          </p:cNvPr>
          <p:cNvSpPr>
            <a:spLocks noGrp="1" noChangeArrowheads="1"/>
          </p:cNvSpPr>
          <p:nvPr>
            <p:ph type="body" idx="1"/>
          </p:nvPr>
        </p:nvSpPr>
        <p:spPr bwMode="auto">
          <a:xfrm>
            <a:off x="609600" y="1567033"/>
            <a:ext cx="6858458" cy="4552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is an AI System Design Engine that automatically generates software architecture designs from natural language application requirements.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analyzes the user prompt and extracts structured requirements such as application domain, scale, and functional needs.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generates High Level Design (HLD) including architecture style, major system components, and recommended technology stack.</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further produces Low Level Design (LLD) including database schema, API structures, backend services, and infrastructure configuration.</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 hybrid approach combining Large Language Models (LLMs), Retrieval Augmented Generation (RAG), and a rule-based decision engine to improve design accuracy.</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output provides a validated and structured system architecture along with technology recommendations and estimated cloud infrastructure cost.</a:t>
            </a:r>
          </a:p>
        </p:txBody>
      </p:sp>
      <p:sp>
        <p:nvSpPr>
          <p:cNvPr id="2" name="AutoShape 2">
            <a:extLst>
              <a:ext uri="{FF2B5EF4-FFF2-40B4-BE49-F238E27FC236}">
                <a16:creationId xmlns:a16="http://schemas.microsoft.com/office/drawing/2014/main" id="{6885E1AB-28A6-5764-062D-C4A755883699}"/>
              </a:ext>
            </a:extLst>
          </p:cNvPr>
          <p:cNvSpPr>
            <a:spLocks noChangeAspect="1" noChangeArrowheads="1"/>
          </p:cNvSpPr>
          <p:nvPr/>
        </p:nvSpPr>
        <p:spPr bwMode="auto">
          <a:xfrm>
            <a:off x="5943600" y="12954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15A3BA96-2DE0-3970-40A7-39736D83BD82}"/>
              </a:ext>
            </a:extLst>
          </p:cNvPr>
          <p:cNvPicPr>
            <a:picLocks noChangeAspect="1"/>
          </p:cNvPicPr>
          <p:nvPr/>
        </p:nvPicPr>
        <p:blipFill>
          <a:blip r:embed="rId2"/>
          <a:stretch>
            <a:fillRect/>
          </a:stretch>
        </p:blipFill>
        <p:spPr>
          <a:xfrm>
            <a:off x="7696200" y="1499923"/>
            <a:ext cx="3124200" cy="46863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t>Objectives</a:t>
            </a:r>
            <a:endParaRPr sz="4400" dirty="0"/>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10</a:t>
            </a:fld>
            <a:endParaRPr spc="-25" dirty="0"/>
          </a:p>
        </p:txBody>
      </p:sp>
      <p:sp>
        <p:nvSpPr>
          <p:cNvPr id="9" name="Rectangle 2">
            <a:extLst>
              <a:ext uri="{FF2B5EF4-FFF2-40B4-BE49-F238E27FC236}">
                <a16:creationId xmlns:a16="http://schemas.microsoft.com/office/drawing/2014/main" id="{0776B2D5-6DDD-642A-E752-0095E9501E4B}"/>
              </a:ext>
            </a:extLst>
          </p:cNvPr>
          <p:cNvSpPr>
            <a:spLocks noGrp="1" noChangeArrowheads="1"/>
          </p:cNvSpPr>
          <p:nvPr>
            <p:ph type="body" idx="1"/>
          </p:nvPr>
        </p:nvSpPr>
        <p:spPr bwMode="auto">
          <a:xfrm>
            <a:off x="1240155" y="1745718"/>
            <a:ext cx="9525000"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develop an AI-based system that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software architecture designs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(HLD and LLD) from natural language application requirements.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extract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structured requirements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identify suitable architecture patterns, system components, and technology stacks.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enhance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architecture generation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AI techniques such as Large Language Models (LLMs) and Retrieval Augmented Generation (RAG).</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produce reliable system designs including database schema, API structure, and infrastructure cost estimation.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4" name="object 4"/>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11</a:t>
            </a:fld>
            <a:endParaRPr spc="-25" dirty="0"/>
          </a:p>
        </p:txBody>
      </p:sp>
      <p:pic>
        <p:nvPicPr>
          <p:cNvPr id="9" name="Picture 8">
            <a:extLst>
              <a:ext uri="{FF2B5EF4-FFF2-40B4-BE49-F238E27FC236}">
                <a16:creationId xmlns:a16="http://schemas.microsoft.com/office/drawing/2014/main" id="{D410848A-1F60-1B3F-54A9-F0E2A3C9064F}"/>
              </a:ext>
            </a:extLst>
          </p:cNvPr>
          <p:cNvPicPr>
            <a:picLocks noChangeAspect="1"/>
          </p:cNvPicPr>
          <p:nvPr/>
        </p:nvPicPr>
        <p:blipFill>
          <a:blip r:embed="rId2"/>
          <a:stretch>
            <a:fillRect/>
          </a:stretch>
        </p:blipFill>
        <p:spPr>
          <a:xfrm>
            <a:off x="184912" y="1219200"/>
            <a:ext cx="11822175" cy="50489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1897156"/>
            <a:ext cx="7162800" cy="4020973"/>
          </a:xfrm>
          <a:prstGeom prst="rect">
            <a:avLst/>
          </a:prstGeom>
        </p:spPr>
        <p:txBody>
          <a:bodyPr vert="horz" wrap="square" lIns="0" tIns="95885" rIns="0" bIns="0" rtlCol="0">
            <a:spAutoFit/>
          </a:bodyPr>
          <a:lstStyle/>
          <a:p>
            <a:pPr marL="342900" indent="-342900">
              <a:buAutoNum type="arabicPeriod"/>
            </a:pPr>
            <a:r>
              <a:rPr lang="en-US" sz="1500" b="1" dirty="0">
                <a:latin typeface="Times New Roman" panose="02020603050405020304" pitchFamily="18" charset="0"/>
                <a:cs typeface="Times New Roman" panose="02020603050405020304" pitchFamily="18" charset="0"/>
              </a:rPr>
              <a:t>Data Collection</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System design knowledge such as architecture patterns, security strategies, and deployment practices is collected from research papers and technical resources.</a:t>
            </a:r>
          </a:p>
          <a:p>
            <a:pPr marL="342900" indent="-342900">
              <a:buFont typeface="+mj-lt"/>
              <a:buAutoNum type="arabicPeriod"/>
            </a:pPr>
            <a:endParaRPr lang="en-US" sz="15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b="1" dirty="0">
                <a:latin typeface="Times New Roman" panose="02020603050405020304" pitchFamily="18" charset="0"/>
                <a:cs typeface="Times New Roman" panose="02020603050405020304" pitchFamily="18" charset="0"/>
              </a:rPr>
              <a:t>Data Preprocessing</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The data is cleaned, structured into knowledge chunks, and stored in a vector database for RAG retrieval.</a:t>
            </a:r>
          </a:p>
          <a:p>
            <a:pPr marL="342900" indent="-342900">
              <a:buFont typeface="+mj-lt"/>
              <a:buAutoNum type="arabicPeriod"/>
            </a:pPr>
            <a:endParaRPr lang="en-US" sz="15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b="1" dirty="0">
                <a:latin typeface="Times New Roman" panose="02020603050405020304" pitchFamily="18" charset="0"/>
                <a:cs typeface="Times New Roman" panose="02020603050405020304" pitchFamily="18" charset="0"/>
              </a:rPr>
              <a:t>Requirement Analysis</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User prompts are analyzed to extract structured system requirements.</a:t>
            </a:r>
          </a:p>
          <a:p>
            <a:pPr marL="342900" indent="-342900">
              <a:buFont typeface="+mj-lt"/>
              <a:buAutoNum type="arabicPeriod"/>
            </a:pPr>
            <a:endParaRPr lang="en-US" sz="15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b="1" dirty="0">
                <a:latin typeface="Times New Roman" panose="02020603050405020304" pitchFamily="18" charset="0"/>
                <a:cs typeface="Times New Roman" panose="02020603050405020304" pitchFamily="18" charset="0"/>
              </a:rPr>
              <a:t>Architecture Generation</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An </a:t>
            </a:r>
            <a:r>
              <a:rPr lang="en-US" sz="1500" b="1" dirty="0">
                <a:latin typeface="Times New Roman" panose="02020603050405020304" pitchFamily="18" charset="0"/>
                <a:cs typeface="Times New Roman" panose="02020603050405020304" pitchFamily="18" charset="0"/>
              </a:rPr>
              <a:t>LLM with RAG</a:t>
            </a:r>
            <a:r>
              <a:rPr lang="en-US" sz="1500" dirty="0">
                <a:latin typeface="Times New Roman" panose="02020603050405020304" pitchFamily="18" charset="0"/>
                <a:cs typeface="Times New Roman" panose="02020603050405020304" pitchFamily="18" charset="0"/>
              </a:rPr>
              <a:t> generates system architecture including </a:t>
            </a:r>
            <a:r>
              <a:rPr lang="en-US" sz="1500" b="1" dirty="0">
                <a:latin typeface="Times New Roman" panose="02020603050405020304" pitchFamily="18" charset="0"/>
                <a:cs typeface="Times New Roman" panose="02020603050405020304" pitchFamily="18" charset="0"/>
              </a:rPr>
              <a:t>HLD and LLD</a:t>
            </a:r>
            <a:r>
              <a:rPr lang="en-US" sz="1500" dirty="0">
                <a:latin typeface="Times New Roman" panose="02020603050405020304" pitchFamily="18" charset="0"/>
                <a:cs typeface="Times New Roman" panose="02020603050405020304" pitchFamily="18" charset="0"/>
              </a:rPr>
              <a:t>.</a:t>
            </a:r>
          </a:p>
          <a:p>
            <a:pPr marL="342900" indent="-342900">
              <a:buFont typeface="+mj-lt"/>
              <a:buAutoNum type="arabicPeriod"/>
            </a:pPr>
            <a:endParaRPr lang="en-US" sz="15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500" b="1" dirty="0">
                <a:latin typeface="Times New Roman" panose="02020603050405020304" pitchFamily="18" charset="0"/>
                <a:cs typeface="Times New Roman" panose="02020603050405020304" pitchFamily="18" charset="0"/>
              </a:rPr>
              <a:t>Validation &amp; Output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The design is validated and the system outputs </a:t>
            </a:r>
            <a:r>
              <a:rPr lang="en-US" sz="1500" b="1" dirty="0">
                <a:latin typeface="Times New Roman" panose="02020603050405020304" pitchFamily="18" charset="0"/>
                <a:cs typeface="Times New Roman" panose="02020603050405020304" pitchFamily="18" charset="0"/>
              </a:rPr>
              <a:t>architecture design, database schema, APIs, and tech stack</a:t>
            </a:r>
            <a:r>
              <a:rPr lang="en-US" sz="1500" dirty="0">
                <a:latin typeface="Times New Roman" panose="02020603050405020304" pitchFamily="18" charset="0"/>
                <a:cs typeface="Times New Roman" panose="02020603050405020304" pitchFamily="18" charset="0"/>
              </a:rPr>
              <a: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3" name="object 3"/>
          <p:cNvSpPr txBox="1">
            <a:spLocks noGrp="1"/>
          </p:cNvSpPr>
          <p:nvPr>
            <p:ph type="title"/>
          </p:nvPr>
        </p:nvSpPr>
        <p:spPr>
          <a:xfrm>
            <a:off x="1981200" y="227013"/>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t>Methodology</a:t>
            </a:r>
            <a:endParaRPr sz="4400"/>
          </a:p>
        </p:txBody>
      </p:sp>
      <p:pic>
        <p:nvPicPr>
          <p:cNvPr id="9" name="Picture 8">
            <a:extLst>
              <a:ext uri="{FF2B5EF4-FFF2-40B4-BE49-F238E27FC236}">
                <a16:creationId xmlns:a16="http://schemas.microsoft.com/office/drawing/2014/main" id="{BAAD29B9-34A7-2E4B-64F3-CAEA3320FBEE}"/>
              </a:ext>
            </a:extLst>
          </p:cNvPr>
          <p:cNvPicPr>
            <a:picLocks noChangeAspect="1"/>
          </p:cNvPicPr>
          <p:nvPr/>
        </p:nvPicPr>
        <p:blipFill>
          <a:blip r:embed="rId2"/>
          <a:stretch>
            <a:fillRect/>
          </a:stretch>
        </p:blipFill>
        <p:spPr>
          <a:xfrm>
            <a:off x="7806055" y="1780164"/>
            <a:ext cx="3505200" cy="42549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30" dirty="0"/>
              <a:t>Tools</a:t>
            </a:r>
            <a:r>
              <a:rPr sz="4400" spc="-125" dirty="0"/>
              <a:t> </a:t>
            </a:r>
            <a:r>
              <a:rPr sz="4400" dirty="0"/>
              <a:t>and</a:t>
            </a:r>
            <a:r>
              <a:rPr sz="4400" spc="-190" dirty="0"/>
              <a:t> </a:t>
            </a:r>
            <a:r>
              <a:rPr sz="4400" spc="-10" dirty="0"/>
              <a:t>Technologies</a:t>
            </a:r>
            <a:endParaRPr sz="4400"/>
          </a:p>
        </p:txBody>
      </p:sp>
      <p:sp>
        <p:nvSpPr>
          <p:cNvPr id="7" name="Text Placeholder 6">
            <a:extLst>
              <a:ext uri="{FF2B5EF4-FFF2-40B4-BE49-F238E27FC236}">
                <a16:creationId xmlns:a16="http://schemas.microsoft.com/office/drawing/2014/main" id="{392781CE-5378-AC0C-2D8E-C6258859B8A8}"/>
              </a:ext>
            </a:extLst>
          </p:cNvPr>
          <p:cNvSpPr>
            <a:spLocks noGrp="1"/>
          </p:cNvSpPr>
          <p:nvPr>
            <p:ph type="body" idx="1"/>
          </p:nvPr>
        </p:nvSpPr>
        <p:spPr>
          <a:xfrm>
            <a:off x="1066800" y="1676400"/>
            <a:ext cx="10896600" cy="4154984"/>
          </a:xfrm>
        </p:spPr>
        <p:txBody>
          <a:bodyPr/>
          <a:lstStyle/>
          <a:p>
            <a:r>
              <a:rPr lang="en-IN" b="1" dirty="0">
                <a:latin typeface="Times New Roman" panose="02020603050405020304" pitchFamily="18" charset="0"/>
                <a:cs typeface="Times New Roman" panose="02020603050405020304" pitchFamily="18" charset="0"/>
              </a:rPr>
              <a:t>Programming Languages : </a:t>
            </a:r>
            <a:r>
              <a:rPr lang="en-IN" dirty="0">
                <a:latin typeface="Times New Roman" panose="02020603050405020304" pitchFamily="18" charset="0"/>
                <a:cs typeface="Times New Roman" panose="02020603050405020304" pitchFamily="18" charset="0"/>
              </a:rPr>
              <a:t>Python , Typescript , PostgreSQL</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Frameworks : </a:t>
            </a:r>
          </a:p>
          <a:p>
            <a:pPr marL="28575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Connects the frontend with the AI engine and RAG system.</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Next.js</a:t>
            </a:r>
            <a:r>
              <a:rPr lang="en-IN" dirty="0">
                <a:latin typeface="Times New Roman" panose="02020603050405020304" pitchFamily="18" charset="0"/>
                <a:cs typeface="Times New Roman" panose="02020603050405020304" pitchFamily="18" charset="0"/>
              </a:rPr>
              <a:t> – Build Frontend Interface and perform CRUD operations</a:t>
            </a:r>
          </a:p>
          <a:p>
            <a:pPr marL="28575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 Implement RAG pipeline integration</a:t>
            </a:r>
          </a:p>
          <a:p>
            <a:pPr marL="28575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HuggingFace</a:t>
            </a:r>
            <a:r>
              <a:rPr lang="en-IN" b="1" dirty="0">
                <a:latin typeface="Times New Roman" panose="02020603050405020304" pitchFamily="18" charset="0"/>
                <a:cs typeface="Times New Roman" panose="02020603050405020304" pitchFamily="18" charset="0"/>
              </a:rPr>
              <a:t> Transformers</a:t>
            </a:r>
            <a:r>
              <a:rPr lang="en-IN"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Used to load and interact with LLM models and embedding models</a:t>
            </a:r>
            <a:r>
              <a:rPr lang="en-US" dirty="0"/>
              <a: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Software Tools :</a:t>
            </a:r>
          </a:p>
          <a:p>
            <a:pPr marL="28575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Ollama</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Used to run LLM locally</a:t>
            </a:r>
          </a:p>
          <a:p>
            <a:pPr marL="28575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ChromaDB</a:t>
            </a:r>
            <a:r>
              <a:rPr lang="en-IN" dirty="0">
                <a:latin typeface="Times New Roman" panose="02020603050405020304" pitchFamily="18" charset="0"/>
                <a:cs typeface="Times New Roman" panose="02020603050405020304" pitchFamily="18" charset="0"/>
              </a:rPr>
              <a:t> – Used as vector database for RAG</a:t>
            </a:r>
          </a:p>
          <a:p>
            <a:pPr marL="285750" indent="-285750">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Supabase</a:t>
            </a:r>
            <a:r>
              <a:rPr lang="en-IN" dirty="0">
                <a:latin typeface="Times New Roman" panose="02020603050405020304" pitchFamily="18" charset="0"/>
                <a:cs typeface="Times New Roman" panose="02020603050405020304" pitchFamily="18" charset="0"/>
              </a:rPr>
              <a:t> – Data storage</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Docker</a:t>
            </a:r>
            <a:r>
              <a:rPr lang="en-IN" dirty="0">
                <a:latin typeface="Times New Roman" panose="02020603050405020304" pitchFamily="18" charset="0"/>
                <a:cs typeface="Times New Roman" panose="02020603050405020304" pitchFamily="18" charset="0"/>
              </a:rPr>
              <a:t> – Used to containerize the application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Git &amp; GitHub</a:t>
            </a:r>
            <a:r>
              <a:rPr lang="en-IN" dirty="0">
                <a:latin typeface="Times New Roman" panose="02020603050405020304" pitchFamily="18" charset="0"/>
                <a:cs typeface="Times New Roman" panose="02020603050405020304" pitchFamily="18" charset="0"/>
              </a:rPr>
              <a:t> – Version control system used for code management and collaboration </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VS Code</a:t>
            </a:r>
            <a:r>
              <a:rPr lang="en-IN" dirty="0">
                <a:latin typeface="Times New Roman" panose="02020603050405020304" pitchFamily="18" charset="0"/>
                <a:cs typeface="Times New Roman" panose="02020603050405020304" pitchFamily="18" charset="0"/>
              </a:rPr>
              <a:t> – Integrated development environment</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a:solidFill>
            <a:srgbClr val="DAE4F1"/>
          </a:solidFill>
          <a:ln w="19049">
            <a:solidFill>
              <a:srgbClr val="632423"/>
            </a:solidFill>
          </a:ln>
        </p:spPr>
        <p:txBody>
          <a:bodyPr vert="horz" wrap="square" lIns="0" tIns="213360" rIns="0" bIns="0" rtlCol="0">
            <a:spAutoFit/>
          </a:bodyPr>
          <a:lstStyle/>
          <a:p>
            <a:pPr marL="635" algn="ctr">
              <a:lnSpc>
                <a:spcPct val="100000"/>
              </a:lnSpc>
              <a:spcBef>
                <a:spcPts val="1680"/>
              </a:spcBef>
              <a:tabLst>
                <a:tab pos="2499360" algn="l"/>
              </a:tabLst>
            </a:pPr>
            <a:r>
              <a:rPr sz="4400" spc="-10" dirty="0"/>
              <a:t>Feasibility</a:t>
            </a:r>
            <a:r>
              <a:rPr sz="4400" dirty="0"/>
              <a:t>	</a:t>
            </a:r>
            <a:r>
              <a:rPr sz="4400" spc="-10" dirty="0"/>
              <a:t>Study</a:t>
            </a:r>
            <a:endParaRPr sz="4400" dirty="0"/>
          </a:p>
        </p:txBody>
      </p:sp>
      <p:sp>
        <p:nvSpPr>
          <p:cNvPr id="7" name="Text Placeholder 6">
            <a:extLst>
              <a:ext uri="{FF2B5EF4-FFF2-40B4-BE49-F238E27FC236}">
                <a16:creationId xmlns:a16="http://schemas.microsoft.com/office/drawing/2014/main" id="{B1264FC4-A9E6-2B61-1918-587A6526ABBC}"/>
              </a:ext>
            </a:extLst>
          </p:cNvPr>
          <p:cNvSpPr>
            <a:spLocks noGrp="1"/>
          </p:cNvSpPr>
          <p:nvPr>
            <p:ph type="body" idx="1"/>
          </p:nvPr>
        </p:nvSpPr>
        <p:spPr>
          <a:xfrm>
            <a:off x="638175" y="1531305"/>
            <a:ext cx="10668000" cy="4893647"/>
          </a:xfrm>
        </p:spPr>
        <p:txBody>
          <a:bodyPr/>
          <a:lstStyle/>
          <a:p>
            <a:r>
              <a:rPr lang="en-US" sz="2000" b="1" dirty="0">
                <a:latin typeface="Times New Roman" panose="02020603050405020304" pitchFamily="18" charset="0"/>
                <a:cs typeface="Times New Roman" panose="02020603050405020304" pitchFamily="18" charset="0"/>
              </a:rPr>
              <a:t>Technical Feasibility:</a:t>
            </a:r>
          </a:p>
          <a:p>
            <a:endParaRPr lang="en-US" sz="1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can be developed using modern technologies such as LLMs, RAG systems, Python,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and React.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models like Mistral can run locally using tools like </a:t>
            </a:r>
            <a:r>
              <a:rPr lang="en-US" dirty="0" err="1">
                <a:latin typeface="Times New Roman" panose="02020603050405020304" pitchFamily="18" charset="0"/>
                <a:cs typeface="Times New Roman" panose="02020603050405020304" pitchFamily="18" charset="0"/>
              </a:rPr>
              <a:t>Ollama</a:t>
            </a:r>
            <a:r>
              <a:rPr lang="en-US" dirty="0">
                <a:latin typeface="Times New Roman" panose="02020603050405020304" pitchFamily="18" charset="0"/>
                <a:cs typeface="Times New Roman" panose="02020603050405020304" pitchFamily="18" charset="0"/>
              </a:rPr>
              <a:t>, making the implementation technically achievable.</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Economic Feasibility</a:t>
            </a:r>
          </a:p>
          <a:p>
            <a:endParaRPr lang="en-US" sz="1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uses </a:t>
            </a:r>
            <a:r>
              <a:rPr lang="en-US" b="1" dirty="0">
                <a:latin typeface="Times New Roman" panose="02020603050405020304" pitchFamily="18" charset="0"/>
                <a:cs typeface="Times New Roman" panose="02020603050405020304" pitchFamily="18" charset="0"/>
              </a:rPr>
              <a:t>mostly open‑source tools and frameworks</a:t>
            </a:r>
            <a:r>
              <a:rPr lang="en-US" dirty="0">
                <a:latin typeface="Times New Roman" panose="02020603050405020304" pitchFamily="18" charset="0"/>
                <a:cs typeface="Times New Roman" panose="02020603050405020304" pitchFamily="18" charset="0"/>
              </a:rPr>
              <a:t>, which significantly reduces development costs.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Free‑tier platforms such as </a:t>
            </a:r>
            <a:r>
              <a:rPr lang="en-US" b="1" dirty="0" err="1">
                <a:latin typeface="Times New Roman" panose="02020603050405020304" pitchFamily="18" charset="0"/>
                <a:cs typeface="Times New Roman" panose="02020603050405020304" pitchFamily="18" charset="0"/>
              </a:rPr>
              <a:t>Supabase</a:t>
            </a:r>
            <a:r>
              <a:rPr lang="en-US" b="1" dirty="0">
                <a:latin typeface="Times New Roman" panose="02020603050405020304" pitchFamily="18" charset="0"/>
                <a:cs typeface="Times New Roman" panose="02020603050405020304" pitchFamily="18" charset="0"/>
              </a:rPr>
              <a:t> and open‑source AI models</a:t>
            </a:r>
            <a:r>
              <a:rPr lang="en-US" dirty="0">
                <a:latin typeface="Times New Roman" panose="02020603050405020304" pitchFamily="18" charset="0"/>
                <a:cs typeface="Times New Roman" panose="02020603050405020304" pitchFamily="18" charset="0"/>
              </a:rPr>
              <a:t> make the system cost‑effective to build and deploy.</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Operational Feasibility</a:t>
            </a:r>
          </a:p>
          <a:p>
            <a:endParaRPr lang="en-US" sz="1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provides a </a:t>
            </a:r>
            <a:r>
              <a:rPr lang="en-US" b="1" dirty="0">
                <a:latin typeface="Times New Roman" panose="02020603050405020304" pitchFamily="18" charset="0"/>
                <a:cs typeface="Times New Roman" panose="02020603050405020304" pitchFamily="18" charset="0"/>
              </a:rPr>
              <a:t>simple user interface where users can generate system architectures using prompts</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a:t>
            </a:r>
            <a:r>
              <a:rPr lang="en-US" b="1" dirty="0">
                <a:latin typeface="Times New Roman" panose="02020603050405020304" pitchFamily="18" charset="0"/>
                <a:cs typeface="Times New Roman" panose="02020603050405020304" pitchFamily="18" charset="0"/>
              </a:rPr>
              <a:t>automates architecture design, documentation, and cost estimation</a:t>
            </a:r>
            <a:r>
              <a:rPr lang="en-US" dirty="0">
                <a:latin typeface="Times New Roman" panose="02020603050405020304" pitchFamily="18" charset="0"/>
                <a:cs typeface="Times New Roman" panose="02020603050405020304" pitchFamily="18" charset="0"/>
              </a:rPr>
              <a:t>, improving developer productivity.</a:t>
            </a:r>
          </a:p>
          <a:p>
            <a:endParaRPr lang="en-IN" dirty="0">
              <a:latin typeface="Times New Roman" panose="02020603050405020304" pitchFamily="18" charset="0"/>
              <a:cs typeface="Times New Roman" panose="02020603050405020304" pitchFamily="18" charset="0"/>
            </a:endParaRP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 y="1524000"/>
            <a:ext cx="11315700" cy="4707699"/>
          </a:xfrm>
          <a:prstGeom prst="rect">
            <a:avLst/>
          </a:prstGeom>
        </p:spPr>
        <p:txBody>
          <a:bodyPr vert="horz" wrap="square" lIns="0" tIns="67310" rIns="0" bIns="0" rtlCol="0">
            <a:spAutoFit/>
          </a:bodyPr>
          <a:lstStyle/>
          <a:p>
            <a:pPr algn="just"/>
            <a:r>
              <a:rPr lang="en-US" b="1" dirty="0">
                <a:latin typeface="Times New Roman" panose="02020603050405020304" pitchFamily="18" charset="0"/>
                <a:cs typeface="Times New Roman" panose="02020603050405020304" pitchFamily="18" charset="0"/>
              </a:rPr>
              <a:t>SDG 4 – Quality Education</a:t>
            </a:r>
          </a:p>
          <a:p>
            <a:pPr algn="just"/>
            <a:r>
              <a:rPr lang="en-US" sz="1600" b="1" dirty="0">
                <a:latin typeface="Times New Roman" panose="02020603050405020304" pitchFamily="18" charset="0"/>
                <a:cs typeface="Times New Roman" panose="02020603050405020304" pitchFamily="18" charset="0"/>
              </a:rPr>
              <a:t>Indicator:</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4.4.1 — Proportion of youth and adults with ICT skills</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Justification: </a:t>
            </a:r>
            <a:r>
              <a:rPr lang="en-US" sz="1600" dirty="0">
                <a:latin typeface="Times New Roman" panose="02020603050405020304" pitchFamily="18" charset="0"/>
                <a:cs typeface="Times New Roman" panose="02020603050405020304" pitchFamily="18" charset="0"/>
              </a:rPr>
              <a:t>The project develops an </a:t>
            </a:r>
            <a:r>
              <a:rPr lang="en-US" sz="1600" b="1" dirty="0">
                <a:latin typeface="Times New Roman" panose="02020603050405020304" pitchFamily="18" charset="0"/>
                <a:cs typeface="Times New Roman" panose="02020603050405020304" pitchFamily="18" charset="0"/>
              </a:rPr>
              <a:t>AI-based system that assists students and developers in learning software architecture concepts such as HLD, LLD, database design, and technology selection</a:t>
            </a:r>
            <a:r>
              <a:rPr lang="en-US" sz="1600" dirty="0">
                <a:latin typeface="Times New Roman" panose="02020603050405020304" pitchFamily="18" charset="0"/>
                <a:cs typeface="Times New Roman" panose="02020603050405020304" pitchFamily="18" charset="0"/>
              </a:rPr>
              <a:t>, thereby improving ICT and software engineering skills.</a:t>
            </a:r>
          </a:p>
          <a:p>
            <a:pPr marL="12700" algn="just">
              <a:lnSpc>
                <a:spcPct val="100000"/>
              </a:lnSpc>
              <a:spcBef>
                <a:spcPts val="530"/>
              </a:spcBef>
              <a:buSzPct val="75000"/>
              <a:tabLst>
                <a:tab pos="379095" algn="l"/>
              </a:tabLst>
            </a:pPr>
            <a:endParaRPr lang="en-IN" sz="1500"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SDG 9 – Industry, Innovation and Infrastructure</a:t>
            </a:r>
          </a:p>
          <a:p>
            <a:pPr algn="just"/>
            <a:r>
              <a:rPr lang="en-US" sz="1600" b="1" dirty="0">
                <a:latin typeface="Times New Roman" panose="02020603050405020304" pitchFamily="18" charset="0"/>
                <a:cs typeface="Times New Roman" panose="02020603050405020304" pitchFamily="18" charset="0"/>
              </a:rPr>
              <a:t>Indicators:</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9.5.1 — Research and development expenditure</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9.b.1 — Medium and high-tech industry value added</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Justification: </a:t>
            </a:r>
            <a:r>
              <a:rPr lang="en-US" sz="1600" dirty="0">
                <a:latin typeface="Times New Roman" panose="02020603050405020304" pitchFamily="18" charset="0"/>
                <a:cs typeface="Times New Roman" panose="02020603050405020304" pitchFamily="18" charset="0"/>
              </a:rPr>
              <a:t>The project contributes to technological innovation by developing an </a:t>
            </a:r>
            <a:r>
              <a:rPr lang="en-US" sz="1600" b="1" dirty="0">
                <a:latin typeface="Times New Roman" panose="02020603050405020304" pitchFamily="18" charset="0"/>
                <a:cs typeface="Times New Roman" panose="02020603050405020304" pitchFamily="18" charset="0"/>
              </a:rPr>
              <a:t>AI-driven architecture generation system that integrates Large Language Models (LLMs), Retrieval Augmented Generation (RAG), and rule-based validation</a:t>
            </a:r>
            <a:r>
              <a:rPr lang="en-US" sz="1600" dirty="0">
                <a:latin typeface="Times New Roman" panose="02020603050405020304" pitchFamily="18" charset="0"/>
                <a:cs typeface="Times New Roman" panose="02020603050405020304" pitchFamily="18" charset="0"/>
              </a:rPr>
              <a:t> to automate software system design.</a:t>
            </a:r>
          </a:p>
          <a:p>
            <a:pPr marL="12700" algn="just">
              <a:lnSpc>
                <a:spcPct val="100000"/>
              </a:lnSpc>
              <a:spcBef>
                <a:spcPts val="530"/>
              </a:spcBef>
              <a:buSzPct val="75000"/>
              <a:tabLst>
                <a:tab pos="379095" algn="l"/>
              </a:tabLst>
            </a:pPr>
            <a:endParaRPr lang="en-IN" sz="1500"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SDG 8 – Decent Work and Economic Growth</a:t>
            </a:r>
          </a:p>
          <a:p>
            <a:pPr algn="just"/>
            <a:r>
              <a:rPr lang="en-US" sz="1600" b="1" dirty="0">
                <a:latin typeface="Times New Roman" panose="02020603050405020304" pitchFamily="18" charset="0"/>
                <a:cs typeface="Times New Roman" panose="02020603050405020304" pitchFamily="18" charset="0"/>
              </a:rPr>
              <a:t>Indicator:</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8.2.1 — Annual growth rate of real GDP per employed person</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Justification: </a:t>
            </a:r>
            <a:r>
              <a:rPr lang="en-US" sz="1600" dirty="0">
                <a:latin typeface="Times New Roman" panose="02020603050405020304" pitchFamily="18" charset="0"/>
                <a:cs typeface="Times New Roman" panose="02020603050405020304" pitchFamily="18" charset="0"/>
              </a:rPr>
              <a:t>The proposed system improves </a:t>
            </a:r>
            <a:r>
              <a:rPr lang="en-US" sz="1600" b="1" dirty="0">
                <a:latin typeface="Times New Roman" panose="02020603050405020304" pitchFamily="18" charset="0"/>
                <a:cs typeface="Times New Roman" panose="02020603050405020304" pitchFamily="18" charset="0"/>
              </a:rPr>
              <a:t>developer productivity by reducing the time and effort required to design scalable software architectures</a:t>
            </a:r>
            <a:r>
              <a:rPr lang="en-US" sz="1600" dirty="0">
                <a:latin typeface="Times New Roman" panose="02020603050405020304" pitchFamily="18" charset="0"/>
                <a:cs typeface="Times New Roman" panose="02020603050405020304" pitchFamily="18" charset="0"/>
              </a:rPr>
              <a:t>, enabling faster and more efficient software development.</a:t>
            </a:r>
          </a:p>
          <a:p>
            <a:pPr marL="12700" algn="just">
              <a:lnSpc>
                <a:spcPct val="100000"/>
              </a:lnSpc>
              <a:spcBef>
                <a:spcPts val="530"/>
              </a:spcBef>
              <a:buSzPct val="75000"/>
              <a:tabLst>
                <a:tab pos="379095" algn="l"/>
              </a:tabLst>
            </a:pPr>
            <a:endParaRPr sz="150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15</a:t>
            </a:fld>
            <a:endParaRPr spc="-25" dirty="0"/>
          </a:p>
        </p:txBody>
      </p:sp>
      <p:sp>
        <p:nvSpPr>
          <p:cNvPr id="3" name="object 3"/>
          <p:cNvSpPr txBox="1"/>
          <p:nvPr/>
        </p:nvSpPr>
        <p:spPr>
          <a:xfrm>
            <a:off x="1780477" y="136523"/>
            <a:ext cx="8229600" cy="1143000"/>
          </a:xfrm>
          <a:prstGeom prst="rect">
            <a:avLst/>
          </a:prstGeom>
          <a:solidFill>
            <a:srgbClr val="DAE4F1"/>
          </a:solidFill>
          <a:ln w="19049">
            <a:solidFill>
              <a:srgbClr val="632423"/>
            </a:solidFill>
          </a:ln>
        </p:spPr>
        <p:txBody>
          <a:bodyPr vert="horz" wrap="square" lIns="0" tIns="0" rIns="0" bIns="0" rtlCol="0">
            <a:spAutoFit/>
          </a:bodyPr>
          <a:lstStyle/>
          <a:p>
            <a:pPr algn="ctr">
              <a:lnSpc>
                <a:spcPts val="2870"/>
              </a:lnSpc>
            </a:pPr>
            <a:r>
              <a:rPr sz="2750" b="1" spc="320" dirty="0">
                <a:latin typeface="Cambria"/>
                <a:cs typeface="Cambria"/>
              </a:rPr>
              <a:t>SDG</a:t>
            </a:r>
            <a:r>
              <a:rPr sz="2750" b="1" spc="245" dirty="0">
                <a:latin typeface="Cambria"/>
                <a:cs typeface="Cambria"/>
              </a:rPr>
              <a:t> </a:t>
            </a:r>
            <a:r>
              <a:rPr sz="2750" b="1" spc="-30" dirty="0">
                <a:latin typeface="Cambria"/>
                <a:cs typeface="Cambria"/>
              </a:rPr>
              <a:t>(</a:t>
            </a:r>
            <a:r>
              <a:rPr sz="2500" b="1" spc="-30" dirty="0">
                <a:latin typeface="Roboto"/>
                <a:cs typeface="Roboto"/>
              </a:rPr>
              <a:t>Sustainable</a:t>
            </a:r>
            <a:r>
              <a:rPr sz="2500" b="1" spc="-45" dirty="0">
                <a:latin typeface="Roboto"/>
                <a:cs typeface="Roboto"/>
              </a:rPr>
              <a:t> </a:t>
            </a:r>
            <a:r>
              <a:rPr sz="2500" b="1" dirty="0">
                <a:latin typeface="Roboto"/>
                <a:cs typeface="Roboto"/>
              </a:rPr>
              <a:t>Development</a:t>
            </a:r>
            <a:r>
              <a:rPr sz="2500" b="1" spc="-50" dirty="0">
                <a:latin typeface="Roboto"/>
                <a:cs typeface="Roboto"/>
              </a:rPr>
              <a:t> </a:t>
            </a:r>
            <a:r>
              <a:rPr sz="2500" b="1" spc="-10" dirty="0">
                <a:latin typeface="Roboto"/>
                <a:cs typeface="Roboto"/>
              </a:rPr>
              <a:t>Goals)</a:t>
            </a:r>
            <a:endParaRPr sz="2500" dirty="0">
              <a:latin typeface="Roboto"/>
              <a:cs typeface="Roboto"/>
            </a:endParaRPr>
          </a:p>
          <a:p>
            <a:pPr marL="507365" marR="501650" algn="ctr">
              <a:lnSpc>
                <a:spcPts val="2640"/>
              </a:lnSpc>
              <a:spcBef>
                <a:spcPts val="305"/>
              </a:spcBef>
            </a:pPr>
            <a:r>
              <a:rPr sz="2750" b="1" spc="130" dirty="0">
                <a:latin typeface="Cambria"/>
                <a:cs typeface="Cambria"/>
              </a:rPr>
              <a:t>mapped</a:t>
            </a:r>
            <a:r>
              <a:rPr sz="2750" b="1" spc="335" dirty="0">
                <a:latin typeface="Cambria"/>
                <a:cs typeface="Cambria"/>
              </a:rPr>
              <a:t> </a:t>
            </a:r>
            <a:r>
              <a:rPr sz="2750" b="1" dirty="0">
                <a:latin typeface="Cambria"/>
                <a:cs typeface="Cambria"/>
              </a:rPr>
              <a:t>(as</a:t>
            </a:r>
            <a:r>
              <a:rPr sz="2750" b="1" spc="340" dirty="0">
                <a:latin typeface="Cambria"/>
                <a:cs typeface="Cambria"/>
              </a:rPr>
              <a:t> </a:t>
            </a:r>
            <a:r>
              <a:rPr sz="2750" b="1" spc="65" dirty="0">
                <a:latin typeface="Cambria"/>
                <a:cs typeface="Cambria"/>
              </a:rPr>
              <a:t>per</a:t>
            </a:r>
            <a:r>
              <a:rPr sz="2750" b="1" spc="330" dirty="0">
                <a:latin typeface="Cambria"/>
                <a:cs typeface="Cambria"/>
              </a:rPr>
              <a:t> </a:t>
            </a:r>
            <a:r>
              <a:rPr sz="2750" b="1" spc="200" dirty="0">
                <a:latin typeface="Cambria"/>
                <a:cs typeface="Cambria"/>
              </a:rPr>
              <a:t>the</a:t>
            </a:r>
            <a:r>
              <a:rPr sz="2750" b="1" spc="340" dirty="0">
                <a:latin typeface="Cambria"/>
                <a:cs typeface="Cambria"/>
              </a:rPr>
              <a:t> </a:t>
            </a:r>
            <a:r>
              <a:rPr sz="2750" b="1" spc="170" dirty="0">
                <a:latin typeface="Cambria"/>
                <a:cs typeface="Cambria"/>
              </a:rPr>
              <a:t>metrics</a:t>
            </a:r>
            <a:r>
              <a:rPr sz="2750" b="1" spc="335" dirty="0">
                <a:latin typeface="Cambria"/>
                <a:cs typeface="Cambria"/>
              </a:rPr>
              <a:t> </a:t>
            </a:r>
            <a:r>
              <a:rPr sz="2750" b="1" spc="110" dirty="0">
                <a:latin typeface="Cambria"/>
                <a:cs typeface="Cambria"/>
              </a:rPr>
              <a:t>provided</a:t>
            </a:r>
            <a:r>
              <a:rPr sz="2750" b="1" spc="335" dirty="0">
                <a:latin typeface="Cambria"/>
                <a:cs typeface="Cambria"/>
              </a:rPr>
              <a:t> </a:t>
            </a:r>
            <a:r>
              <a:rPr sz="2750" b="1" spc="90" dirty="0">
                <a:latin typeface="Cambria"/>
                <a:cs typeface="Cambria"/>
              </a:rPr>
              <a:t>by </a:t>
            </a:r>
            <a:r>
              <a:rPr sz="2750" b="1" spc="100" dirty="0">
                <a:latin typeface="Cambria"/>
                <a:cs typeface="Cambria"/>
              </a:rPr>
              <a:t>Dept.)</a:t>
            </a:r>
            <a:endParaRPr sz="2750" dirty="0">
              <a:latin typeface="Cambria"/>
              <a:cs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4" name="object 4"/>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16</a:t>
            </a:fld>
            <a:endParaRPr spc="-25" dirty="0"/>
          </a:p>
        </p:txBody>
      </p:sp>
      <p:pic>
        <p:nvPicPr>
          <p:cNvPr id="6" name="Picture 5">
            <a:extLst>
              <a:ext uri="{FF2B5EF4-FFF2-40B4-BE49-F238E27FC236}">
                <a16:creationId xmlns:a16="http://schemas.microsoft.com/office/drawing/2014/main" id="{D1BE22F2-1D91-AEB6-5DF6-32A886ADC9E1}"/>
              </a:ext>
            </a:extLst>
          </p:cNvPr>
          <p:cNvPicPr>
            <a:picLocks noChangeAspect="1"/>
          </p:cNvPicPr>
          <p:nvPr/>
        </p:nvPicPr>
        <p:blipFill>
          <a:blip r:embed="rId2"/>
          <a:srcRect b="8799"/>
          <a:stretch>
            <a:fillRect/>
          </a:stretch>
        </p:blipFill>
        <p:spPr>
          <a:xfrm>
            <a:off x="1657350" y="533400"/>
            <a:ext cx="8877300" cy="5397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17</a:t>
            </a:fld>
            <a:endParaRPr spc="-25" dirty="0"/>
          </a:p>
        </p:txBody>
      </p:sp>
      <p:sp>
        <p:nvSpPr>
          <p:cNvPr id="3" name="object 3"/>
          <p:cNvSpPr txBox="1">
            <a:spLocks noGrp="1"/>
          </p:cNvSpPr>
          <p:nvPr>
            <p:ph type="title"/>
          </p:nvPr>
        </p:nvSpPr>
        <p:spPr>
          <a:xfrm>
            <a:off x="1981200" y="227013"/>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latin typeface="Calibri"/>
                <a:cs typeface="Calibri"/>
              </a:rPr>
              <a:t>Work</a:t>
            </a:r>
            <a:r>
              <a:rPr sz="4400" spc="-160" dirty="0">
                <a:latin typeface="Calibri"/>
                <a:cs typeface="Calibri"/>
              </a:rPr>
              <a:t> </a:t>
            </a:r>
            <a:r>
              <a:rPr sz="4400" dirty="0">
                <a:latin typeface="Calibri"/>
                <a:cs typeface="Calibri"/>
              </a:rPr>
              <a:t>Plan</a:t>
            </a:r>
            <a:r>
              <a:rPr sz="4400" spc="-160" dirty="0">
                <a:latin typeface="Calibri"/>
                <a:cs typeface="Calibri"/>
              </a:rPr>
              <a:t> </a:t>
            </a:r>
            <a:r>
              <a:rPr sz="4400" spc="-10" dirty="0">
                <a:latin typeface="Calibri"/>
                <a:cs typeface="Calibri"/>
              </a:rPr>
              <a:t>(Timeline)</a:t>
            </a:r>
            <a:endParaRPr sz="4400" dirty="0">
              <a:latin typeface="Calibri"/>
              <a:cs typeface="Calibri"/>
            </a:endParaRPr>
          </a:p>
        </p:txBody>
      </p:sp>
      <p:pic>
        <p:nvPicPr>
          <p:cNvPr id="8" name="Picture 7">
            <a:extLst>
              <a:ext uri="{FF2B5EF4-FFF2-40B4-BE49-F238E27FC236}">
                <a16:creationId xmlns:a16="http://schemas.microsoft.com/office/drawing/2014/main" id="{2790B87B-B66D-86A7-867B-901E2D898147}"/>
              </a:ext>
            </a:extLst>
          </p:cNvPr>
          <p:cNvPicPr>
            <a:picLocks noChangeAspect="1"/>
          </p:cNvPicPr>
          <p:nvPr/>
        </p:nvPicPr>
        <p:blipFill>
          <a:blip r:embed="rId2"/>
          <a:srcRect l="11876" r="2065" b="12195"/>
          <a:stretch>
            <a:fillRect/>
          </a:stretch>
        </p:blipFill>
        <p:spPr>
          <a:xfrm>
            <a:off x="609600" y="1621410"/>
            <a:ext cx="3037205" cy="4648200"/>
          </a:xfrm>
          <a:prstGeom prst="rect">
            <a:avLst/>
          </a:prstGeom>
        </p:spPr>
      </p:pic>
      <p:sp>
        <p:nvSpPr>
          <p:cNvPr id="10" name="TextBox 9">
            <a:extLst>
              <a:ext uri="{FF2B5EF4-FFF2-40B4-BE49-F238E27FC236}">
                <a16:creationId xmlns:a16="http://schemas.microsoft.com/office/drawing/2014/main" id="{81F88CCA-48B6-7F3F-05E5-A45C9E48B74E}"/>
              </a:ext>
            </a:extLst>
          </p:cNvPr>
          <p:cNvSpPr txBox="1"/>
          <p:nvPr/>
        </p:nvSpPr>
        <p:spPr>
          <a:xfrm>
            <a:off x="3886200" y="1600200"/>
            <a:ext cx="7543800" cy="261610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Team Roles (Team Size: 4)</a:t>
            </a:r>
          </a:p>
          <a:p>
            <a:pPr algn="just"/>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AI &amp; Architecture Developer: </a:t>
            </a:r>
            <a:r>
              <a:rPr lang="en-US" sz="1600" dirty="0">
                <a:latin typeface="Times New Roman" panose="02020603050405020304" pitchFamily="18" charset="0"/>
                <a:cs typeface="Times New Roman" panose="02020603050405020304" pitchFamily="18" charset="0"/>
              </a:rPr>
              <a:t>Develops AI Design Engine and integrates LLM + RAG for generating HLD and LLD.</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Backend Developer: </a:t>
            </a:r>
            <a:r>
              <a:rPr lang="en-US" sz="1600" dirty="0">
                <a:latin typeface="Times New Roman" panose="02020603050405020304" pitchFamily="18" charset="0"/>
                <a:cs typeface="Times New Roman" panose="02020603050405020304" pitchFamily="18" charset="0"/>
              </a:rPr>
              <a:t>Builds backend using </a:t>
            </a:r>
            <a:r>
              <a:rPr lang="en-US" sz="1600" dirty="0" err="1">
                <a:latin typeface="Times New Roman" panose="02020603050405020304" pitchFamily="18" charset="0"/>
                <a:cs typeface="Times New Roman" panose="02020603050405020304" pitchFamily="18" charset="0"/>
              </a:rPr>
              <a:t>FastAPI</a:t>
            </a:r>
            <a:r>
              <a:rPr lang="en-US" sz="1600" dirty="0">
                <a:latin typeface="Times New Roman" panose="02020603050405020304" pitchFamily="18" charset="0"/>
                <a:cs typeface="Times New Roman" panose="02020603050405020304" pitchFamily="18" charset="0"/>
              </a:rPr>
              <a:t>, handles database integration, validation, and cost estimation modules.</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Frontend Developer: </a:t>
            </a:r>
            <a:r>
              <a:rPr lang="en-US" sz="1600" dirty="0">
                <a:latin typeface="Times New Roman" panose="02020603050405020304" pitchFamily="18" charset="0"/>
                <a:cs typeface="Times New Roman" panose="02020603050405020304" pitchFamily="18" charset="0"/>
              </a:rPr>
              <a:t>Develops Next.js UI for user prompts and displaying architecture outputs.</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Deployment &amp; Integration Engineer: </a:t>
            </a:r>
            <a:r>
              <a:rPr lang="en-US" sz="1600" dirty="0">
                <a:latin typeface="Times New Roman" panose="02020603050405020304" pitchFamily="18" charset="0"/>
                <a:cs typeface="Times New Roman" panose="02020603050405020304" pitchFamily="18" charset="0"/>
              </a:rPr>
              <a:t>Handles system integration, testing, and deployment on Render (backend) and </a:t>
            </a:r>
            <a:r>
              <a:rPr lang="en-US" sz="1600" dirty="0" err="1">
                <a:latin typeface="Times New Roman" panose="02020603050405020304" pitchFamily="18" charset="0"/>
                <a:cs typeface="Times New Roman" panose="02020603050405020304" pitchFamily="18" charset="0"/>
              </a:rPr>
              <a:t>Vercel</a:t>
            </a:r>
            <a:r>
              <a:rPr lang="en-US" sz="1600" dirty="0">
                <a:latin typeface="Times New Roman" panose="02020603050405020304" pitchFamily="18" charset="0"/>
                <a:cs typeface="Times New Roman" panose="02020603050405020304" pitchFamily="18" charset="0"/>
              </a:rPr>
              <a:t> (frontend).</a:t>
            </a:r>
            <a:endParaRPr lang="en-IN"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F016C50-0DB5-1044-A921-F8CC276FC2BA}"/>
              </a:ext>
            </a:extLst>
          </p:cNvPr>
          <p:cNvSpPr txBox="1"/>
          <p:nvPr/>
        </p:nvSpPr>
        <p:spPr>
          <a:xfrm>
            <a:off x="3875405" y="4446488"/>
            <a:ext cx="7543800" cy="163121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Business / Financial Details</a:t>
            </a:r>
          </a:p>
          <a:p>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Uses open-source technologies (Python, </a:t>
            </a:r>
            <a:r>
              <a:rPr lang="en-US" sz="1600" dirty="0" err="1">
                <a:latin typeface="Times New Roman" panose="02020603050405020304" pitchFamily="18" charset="0"/>
                <a:cs typeface="Times New Roman" panose="02020603050405020304" pitchFamily="18" charset="0"/>
              </a:rPr>
              <a:t>FastAPI</a:t>
            </a:r>
            <a:r>
              <a:rPr lang="en-US" sz="1600" dirty="0">
                <a:latin typeface="Times New Roman" panose="02020603050405020304" pitchFamily="18" charset="0"/>
                <a:cs typeface="Times New Roman" panose="02020603050405020304" pitchFamily="18" charset="0"/>
              </a:rPr>
              <a:t>, Next.js, AI models).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Deployment on free-tier cloud platforms (Render, </a:t>
            </a:r>
            <a:r>
              <a:rPr lang="en-US" sz="1600" dirty="0" err="1">
                <a:latin typeface="Times New Roman" panose="02020603050405020304" pitchFamily="18" charset="0"/>
                <a:cs typeface="Times New Roman" panose="02020603050405020304" pitchFamily="18" charset="0"/>
              </a:rPr>
              <a:t>Vercel</a:t>
            </a:r>
            <a:r>
              <a:rPr lang="en-US" sz="16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Requires personal computers and internet for development.</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Overall project cost is minimal.</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latin typeface="Calibri"/>
                <a:cs typeface="Calibri"/>
              </a:rPr>
              <a:t>Work</a:t>
            </a:r>
            <a:r>
              <a:rPr sz="4400" spc="-160" dirty="0">
                <a:latin typeface="Calibri"/>
                <a:cs typeface="Calibri"/>
              </a:rPr>
              <a:t> </a:t>
            </a:r>
            <a:r>
              <a:rPr sz="4400" dirty="0">
                <a:latin typeface="Calibri"/>
                <a:cs typeface="Calibri"/>
              </a:rPr>
              <a:t>Plan</a:t>
            </a:r>
            <a:r>
              <a:rPr sz="4400" spc="-160" dirty="0">
                <a:latin typeface="Calibri"/>
                <a:cs typeface="Calibri"/>
              </a:rPr>
              <a:t> </a:t>
            </a:r>
            <a:r>
              <a:rPr sz="4400" spc="-10" dirty="0">
                <a:latin typeface="Calibri"/>
                <a:cs typeface="Calibri"/>
              </a:rPr>
              <a:t>(Timeline)</a:t>
            </a:r>
            <a:endParaRPr sz="4400">
              <a:latin typeface="Calibri"/>
              <a:cs typeface="Calibri"/>
            </a:endParaRPr>
          </a:p>
        </p:txBody>
      </p:sp>
      <p:sp>
        <p:nvSpPr>
          <p:cNvPr id="10" name="Text Placeholder 9">
            <a:extLst>
              <a:ext uri="{FF2B5EF4-FFF2-40B4-BE49-F238E27FC236}">
                <a16:creationId xmlns:a16="http://schemas.microsoft.com/office/drawing/2014/main" id="{B6ADAE77-D2AF-17FE-A029-11DCAD206CD3}"/>
              </a:ext>
            </a:extLst>
          </p:cNvPr>
          <p:cNvSpPr>
            <a:spLocks noGrp="1"/>
          </p:cNvSpPr>
          <p:nvPr>
            <p:ph type="body" idx="1"/>
          </p:nvPr>
        </p:nvSpPr>
        <p:spPr>
          <a:xfrm rot="10800000" flipV="1">
            <a:off x="363221" y="3284756"/>
            <a:ext cx="12039600" cy="1661993"/>
          </a:xfrm>
        </p:spPr>
        <p:txBody>
          <a:bodyPr/>
          <a:lstStyle/>
          <a:p>
            <a:r>
              <a:rPr lang="en-US" b="1" dirty="0">
                <a:latin typeface="Times New Roman" panose="02020603050405020304" pitchFamily="18" charset="0"/>
                <a:cs typeface="Times New Roman" panose="02020603050405020304" pitchFamily="18" charset="0"/>
              </a:rPr>
              <a:t>  Innovation Contribution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Development of an </a:t>
            </a:r>
            <a:r>
              <a:rPr lang="en-US" b="1" dirty="0">
                <a:latin typeface="Times New Roman" panose="02020603050405020304" pitchFamily="18" charset="0"/>
                <a:cs typeface="Times New Roman" panose="02020603050405020304" pitchFamily="18" charset="0"/>
              </a:rPr>
              <a:t>AI-driven system architecture generation engine</a:t>
            </a:r>
            <a:r>
              <a:rPr lang="en-US" dirty="0">
                <a:latin typeface="Times New Roman" panose="02020603050405020304" pitchFamily="18" charset="0"/>
                <a:cs typeface="Times New Roman" panose="02020603050405020304" pitchFamily="18" charset="0"/>
              </a:rPr>
              <a:t> that converts natural language prompts into complete software architecture designs.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 </a:t>
            </a:r>
            <a:r>
              <a:rPr lang="en-US" b="1" dirty="0">
                <a:latin typeface="Times New Roman" panose="02020603050405020304" pitchFamily="18" charset="0"/>
                <a:cs typeface="Times New Roman" panose="02020603050405020304" pitchFamily="18" charset="0"/>
              </a:rPr>
              <a:t>structured and automated approach to system design</a:t>
            </a:r>
            <a:r>
              <a:rPr lang="en-US" dirty="0">
                <a:latin typeface="Times New Roman" panose="02020603050405020304" pitchFamily="18" charset="0"/>
                <a:cs typeface="Times New Roman" panose="02020603050405020304" pitchFamily="18" charset="0"/>
              </a:rPr>
              <a:t>, which is traditionally done manually by experienced architects.</a:t>
            </a:r>
          </a:p>
          <a:p>
            <a:endParaRPr lang="en-IN" dirty="0">
              <a:latin typeface="Times New Roman" panose="02020603050405020304" pitchFamily="18" charset="0"/>
              <a:cs typeface="Times New Roman" panose="02020603050405020304" pitchFamily="18" charset="0"/>
            </a:endParaRPr>
          </a:p>
        </p:txBody>
      </p:sp>
      <p:sp>
        <p:nvSpPr>
          <p:cNvPr id="7" name="object 7"/>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18</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4286329919"/>
              </p:ext>
            </p:extLst>
          </p:nvPr>
        </p:nvGraphicFramePr>
        <p:xfrm>
          <a:off x="2800636" y="4653557"/>
          <a:ext cx="5916806" cy="1613535"/>
        </p:xfrm>
        <a:graphic>
          <a:graphicData uri="http://schemas.openxmlformats.org/drawingml/2006/table">
            <a:tbl>
              <a:tblPr firstRow="1" bandRow="1">
                <a:tableStyleId>{2D5ABB26-0587-4C30-8999-92F81FD0307C}</a:tableStyleId>
              </a:tblPr>
              <a:tblGrid>
                <a:gridCol w="2958403">
                  <a:extLst>
                    <a:ext uri="{9D8B030D-6E8A-4147-A177-3AD203B41FA5}">
                      <a16:colId xmlns:a16="http://schemas.microsoft.com/office/drawing/2014/main" val="20000"/>
                    </a:ext>
                  </a:extLst>
                </a:gridCol>
                <a:gridCol w="2958403">
                  <a:extLst>
                    <a:ext uri="{9D8B030D-6E8A-4147-A177-3AD203B41FA5}">
                      <a16:colId xmlns:a16="http://schemas.microsoft.com/office/drawing/2014/main" val="20001"/>
                    </a:ext>
                  </a:extLst>
                </a:gridCol>
              </a:tblGrid>
              <a:tr h="500114">
                <a:tc>
                  <a:txBody>
                    <a:bodyPr/>
                    <a:lstStyle/>
                    <a:p>
                      <a:pPr marL="85725">
                        <a:lnSpc>
                          <a:spcPct val="100000"/>
                        </a:lnSpc>
                        <a:spcBef>
                          <a:spcPts val="225"/>
                        </a:spcBef>
                      </a:pPr>
                      <a:r>
                        <a:rPr sz="1800" b="1" dirty="0">
                          <a:solidFill>
                            <a:srgbClr val="FFFFFF"/>
                          </a:solidFill>
                          <a:latin typeface="Calibri"/>
                          <a:cs typeface="Calibri"/>
                        </a:rPr>
                        <a:t>Outcome</a:t>
                      </a:r>
                      <a:r>
                        <a:rPr sz="1800" b="1" spc="-60" dirty="0">
                          <a:solidFill>
                            <a:srgbClr val="FFFFFF"/>
                          </a:solidFill>
                          <a:latin typeface="Calibri"/>
                          <a:cs typeface="Calibri"/>
                        </a:rPr>
                        <a:t> </a:t>
                      </a:r>
                      <a:r>
                        <a:rPr sz="1800" b="1" spc="-10" dirty="0">
                          <a:solidFill>
                            <a:srgbClr val="FFFFFF"/>
                          </a:solidFill>
                          <a:latin typeface="Calibri"/>
                          <a:cs typeface="Calibri"/>
                        </a:rPr>
                        <a:t>Component</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85725" marR="144145">
                        <a:lnSpc>
                          <a:spcPct val="100000"/>
                        </a:lnSpc>
                        <a:spcBef>
                          <a:spcPts val="225"/>
                        </a:spcBef>
                      </a:pPr>
                      <a:r>
                        <a:rPr sz="1800" b="1" dirty="0">
                          <a:solidFill>
                            <a:srgbClr val="FFFFFF"/>
                          </a:solidFill>
                          <a:latin typeface="Calibri"/>
                          <a:cs typeface="Calibri"/>
                        </a:rPr>
                        <a:t>Tick</a:t>
                      </a:r>
                      <a:r>
                        <a:rPr sz="1800" b="1" spc="-25" dirty="0">
                          <a:solidFill>
                            <a:srgbClr val="FFFFFF"/>
                          </a:solidFill>
                          <a:latin typeface="Calibri"/>
                          <a:cs typeface="Calibri"/>
                        </a:rPr>
                        <a:t> </a:t>
                      </a:r>
                      <a:r>
                        <a:rPr sz="1800" b="1" dirty="0">
                          <a:solidFill>
                            <a:srgbClr val="FFFFFF"/>
                          </a:solidFill>
                          <a:latin typeface="Calibri"/>
                          <a:cs typeface="Calibri"/>
                        </a:rPr>
                        <a:t>which</a:t>
                      </a:r>
                      <a:r>
                        <a:rPr sz="1800" b="1" spc="-20" dirty="0">
                          <a:solidFill>
                            <a:srgbClr val="FFFFFF"/>
                          </a:solidFill>
                          <a:latin typeface="Calibri"/>
                          <a:cs typeface="Calibri"/>
                        </a:rPr>
                        <a:t> </a:t>
                      </a:r>
                      <a:r>
                        <a:rPr sz="1800" b="1" dirty="0">
                          <a:solidFill>
                            <a:srgbClr val="FFFFFF"/>
                          </a:solidFill>
                          <a:latin typeface="Calibri"/>
                          <a:cs typeface="Calibri"/>
                        </a:rPr>
                        <a:t>one</a:t>
                      </a:r>
                      <a:r>
                        <a:rPr sz="1800" b="1" spc="-20" dirty="0">
                          <a:solidFill>
                            <a:srgbClr val="FFFFFF"/>
                          </a:solidFill>
                          <a:latin typeface="Calibri"/>
                          <a:cs typeface="Calibri"/>
                        </a:rPr>
                        <a:t> </a:t>
                      </a:r>
                      <a:r>
                        <a:rPr sz="1800" b="1" dirty="0">
                          <a:solidFill>
                            <a:srgbClr val="FFFFFF"/>
                          </a:solidFill>
                          <a:latin typeface="Calibri"/>
                          <a:cs typeface="Calibri"/>
                        </a:rPr>
                        <a:t>is</a:t>
                      </a:r>
                      <a:r>
                        <a:rPr sz="1800" b="1" spc="-20" dirty="0">
                          <a:solidFill>
                            <a:srgbClr val="FFFFFF"/>
                          </a:solidFill>
                          <a:latin typeface="Calibri"/>
                          <a:cs typeface="Calibri"/>
                        </a:rPr>
                        <a:t> </a:t>
                      </a:r>
                      <a:r>
                        <a:rPr sz="1800" b="1" dirty="0">
                          <a:solidFill>
                            <a:srgbClr val="FFFFFF"/>
                          </a:solidFill>
                          <a:latin typeface="Calibri"/>
                          <a:cs typeface="Calibri"/>
                        </a:rPr>
                        <a:t>your</a:t>
                      </a:r>
                      <a:r>
                        <a:rPr sz="1800" b="1" spc="-20" dirty="0">
                          <a:solidFill>
                            <a:srgbClr val="FFFFFF"/>
                          </a:solidFill>
                          <a:latin typeface="Calibri"/>
                          <a:cs typeface="Calibri"/>
                        </a:rPr>
                        <a:t> </a:t>
                      </a:r>
                      <a:r>
                        <a:rPr sz="1800" b="1" spc="-10" dirty="0">
                          <a:solidFill>
                            <a:srgbClr val="FFFFFF"/>
                          </a:solidFill>
                          <a:latin typeface="Calibri"/>
                          <a:cs typeface="Calibri"/>
                        </a:rPr>
                        <a:t>project outcome</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extLst>
                  <a:ext uri="{0D108BD9-81ED-4DB2-BD59-A6C34878D82A}">
                    <a16:rowId xmlns:a16="http://schemas.microsoft.com/office/drawing/2014/main" val="10000"/>
                  </a:ext>
                </a:extLst>
              </a:tr>
              <a:tr h="290495">
                <a:tc>
                  <a:txBody>
                    <a:bodyPr/>
                    <a:lstStyle/>
                    <a:p>
                      <a:pPr marL="85725">
                        <a:lnSpc>
                          <a:spcPct val="100000"/>
                        </a:lnSpc>
                        <a:spcBef>
                          <a:spcPts val="225"/>
                        </a:spcBef>
                      </a:pPr>
                      <a:r>
                        <a:rPr sz="1800" spc="-10" dirty="0">
                          <a:latin typeface="Calibri"/>
                          <a:cs typeface="Calibri"/>
                        </a:rPr>
                        <a:t>Publication</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D7E7"/>
                    </a:solidFill>
                  </a:tcPr>
                </a:tc>
                <a:tc>
                  <a:txBody>
                    <a:bodyPr/>
                    <a:lstStyle/>
                    <a:p>
                      <a:pPr>
                        <a:lnSpc>
                          <a:spcPct val="100000"/>
                        </a:lnSpc>
                      </a:pPr>
                      <a:endParaRPr sz="22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D7E7"/>
                    </a:solidFill>
                  </a:tcPr>
                </a:tc>
                <a:extLst>
                  <a:ext uri="{0D108BD9-81ED-4DB2-BD59-A6C34878D82A}">
                    <a16:rowId xmlns:a16="http://schemas.microsoft.com/office/drawing/2014/main" val="10001"/>
                  </a:ext>
                </a:extLst>
              </a:tr>
              <a:tr h="290495">
                <a:tc>
                  <a:txBody>
                    <a:bodyPr/>
                    <a:lstStyle/>
                    <a:p>
                      <a:pPr marL="85725">
                        <a:lnSpc>
                          <a:spcPct val="100000"/>
                        </a:lnSpc>
                        <a:spcBef>
                          <a:spcPts val="225"/>
                        </a:spcBef>
                      </a:pPr>
                      <a:r>
                        <a:rPr sz="1800" spc="-10" dirty="0">
                          <a:latin typeface="Calibri"/>
                          <a:cs typeface="Calibri"/>
                        </a:rPr>
                        <a:t>Patent</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tc>
                  <a:txBody>
                    <a:bodyPr/>
                    <a:lstStyle/>
                    <a:p>
                      <a:pPr>
                        <a:lnSpc>
                          <a:spcPct val="100000"/>
                        </a:lnSpc>
                      </a:pPr>
                      <a:endParaRPr sz="22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02"/>
                  </a:ext>
                </a:extLst>
              </a:tr>
              <a:tr h="290495">
                <a:tc>
                  <a:txBody>
                    <a:bodyPr/>
                    <a:lstStyle/>
                    <a:p>
                      <a:pPr marL="85725">
                        <a:lnSpc>
                          <a:spcPct val="100000"/>
                        </a:lnSpc>
                        <a:spcBef>
                          <a:spcPts val="225"/>
                        </a:spcBef>
                      </a:pPr>
                      <a:r>
                        <a:rPr sz="1800" spc="-10" dirty="0">
                          <a:latin typeface="Calibri"/>
                          <a:cs typeface="Calibri"/>
                        </a:rPr>
                        <a:t>Product</a:t>
                      </a:r>
                      <a:endParaRPr sz="1800" dirty="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7E7"/>
                    </a:solidFill>
                  </a:tcPr>
                </a:tc>
                <a:tc>
                  <a:txBody>
                    <a:bodyPr/>
                    <a:lstStyle/>
                    <a:p>
                      <a:pPr>
                        <a:lnSpc>
                          <a:spcPct val="100000"/>
                        </a:lnSpc>
                      </a:pPr>
                      <a:r>
                        <a:rPr lang="en-IN" sz="2200" dirty="0">
                          <a:latin typeface="Times New Roman"/>
                          <a:cs typeface="Times New Roman"/>
                        </a:rPr>
                        <a:t>                 </a:t>
                      </a:r>
                      <a:r>
                        <a:rPr lang="en-IN" sz="2400" dirty="0"/>
                        <a:t>✔</a:t>
                      </a:r>
                      <a:endParaRPr lang="en-IN" sz="22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7E7"/>
                    </a:solidFill>
                  </a:tcPr>
                </a:tc>
                <a:extLst>
                  <a:ext uri="{0D108BD9-81ED-4DB2-BD59-A6C34878D82A}">
                    <a16:rowId xmlns:a16="http://schemas.microsoft.com/office/drawing/2014/main" val="10003"/>
                  </a:ext>
                </a:extLst>
              </a:tr>
            </a:tbl>
          </a:graphicData>
        </a:graphic>
      </p:graphicFrame>
      <p:sp>
        <p:nvSpPr>
          <p:cNvPr id="12" name="TextBox 11">
            <a:extLst>
              <a:ext uri="{FF2B5EF4-FFF2-40B4-BE49-F238E27FC236}">
                <a16:creationId xmlns:a16="http://schemas.microsoft.com/office/drawing/2014/main" id="{BAD64905-5F62-EB5F-8B8D-BAAFA6F2EA9D}"/>
              </a:ext>
            </a:extLst>
          </p:cNvPr>
          <p:cNvSpPr txBox="1"/>
          <p:nvPr/>
        </p:nvSpPr>
        <p:spPr>
          <a:xfrm>
            <a:off x="321946" y="1397675"/>
            <a:ext cx="11810999" cy="2031325"/>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Performance Expectations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should accurately generate High Level Design (HLD) and Low Level Design (LLD) from natural language application requirements.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should provide valid architecture suggestions, technology stack recommendations, and structured system design outputs.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should respond within reasonable time and generate consistent architecture designs using LLM and RAG-based knowledge retrieval.</a:t>
            </a:r>
          </a:p>
          <a:p>
            <a:pPr algn="just"/>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9372" y="1600200"/>
            <a:ext cx="10920003" cy="4321696"/>
          </a:xfrm>
          <a:prstGeom prst="rect">
            <a:avLst/>
          </a:prstGeom>
        </p:spPr>
        <p:txBody>
          <a:bodyPr vert="horz" wrap="square" lIns="0" tIns="12700" rIns="0" bIns="0" rtlCol="0">
            <a:spAutoFit/>
          </a:bodyPr>
          <a:lstStyle/>
          <a:p>
            <a:pPr indent="-457200" algn="just"/>
            <a:r>
              <a:rPr lang="en-US" sz="1400" dirty="0"/>
              <a:t>[1] H. Ren et al., “</a:t>
            </a:r>
            <a:r>
              <a:rPr lang="en-US" sz="1400" dirty="0" err="1"/>
              <a:t>MetaGPT</a:t>
            </a:r>
            <a:r>
              <a:rPr lang="en-US" sz="1400" dirty="0"/>
              <a:t>: Meta Programming for a Multi-Agent Collaborative Framework,” International Conference on Learning Representations (ICLR), 2024.</a:t>
            </a:r>
          </a:p>
          <a:p>
            <a:pPr indent="-457200" algn="just"/>
            <a:endParaRPr lang="en-IN" sz="1400" dirty="0"/>
          </a:p>
          <a:p>
            <a:pPr indent="-457200" algn="just"/>
            <a:r>
              <a:rPr lang="en-US" sz="1400" dirty="0"/>
              <a:t>[2] A. Sharma et al., “Automated Software Design Using Machine Learning with Natural Language Processing,” IEEE International Conference on Software Engineering Research and Innovation, pp. 1–6, 2020.</a:t>
            </a:r>
          </a:p>
          <a:p>
            <a:pPr indent="-457200" algn="just"/>
            <a:endParaRPr lang="en-IN" sz="1400" dirty="0"/>
          </a:p>
          <a:p>
            <a:pPr indent="-457200" algn="just"/>
            <a:r>
              <a:rPr lang="en-US" sz="1400" dirty="0"/>
              <a:t>[3] S. K. Sahoo and A. K. Rath, “Class Diagram Extraction from Textual Requirements Using Natural Language Processing Techniques,” IEEE International Conference on Advances in Computer Engineering, pp. 1–6, 2010.</a:t>
            </a:r>
          </a:p>
          <a:p>
            <a:pPr indent="-457200" algn="just"/>
            <a:endParaRPr lang="en-IN" sz="1400" dirty="0"/>
          </a:p>
          <a:p>
            <a:pPr indent="-457200" algn="just"/>
            <a:r>
              <a:rPr lang="en-IN" sz="1400" dirty="0"/>
              <a:t>[4] A. Abdelnabi et al., “Towards Class Diagram Generation from User Stories Using LLMs,” IEEE International Conference on Software Engineering and Artificial Intelligence, pp. 1–6, 2024.</a:t>
            </a:r>
          </a:p>
          <a:p>
            <a:pPr indent="-457200" algn="just"/>
            <a:endParaRPr lang="en-IN" sz="1400" dirty="0"/>
          </a:p>
          <a:p>
            <a:pPr indent="-457200" algn="just"/>
            <a:r>
              <a:rPr lang="en-US" sz="1400" dirty="0"/>
              <a:t>[5] A. B. Alwan and H. S. Farhan, “Automatic Extraction of Structural Model from Semi-Structured Software Requirement Specification,” IEEE International Conference on Computer and Communication Engineering, pp. 1–5, 2018.</a:t>
            </a:r>
          </a:p>
          <a:p>
            <a:pPr indent="-457200" algn="just"/>
            <a:endParaRPr lang="en-IN" sz="1400" dirty="0"/>
          </a:p>
          <a:p>
            <a:pPr indent="-457200" algn="just"/>
            <a:r>
              <a:rPr lang="en-US" sz="1400" dirty="0"/>
              <a:t>[6] M. Abdellatif et al., “Assessing LLMs for Front-End Software Architecture Knowledge,” IEEE International Conference on Software Architecture, pp. 1–10, 2024.</a:t>
            </a:r>
          </a:p>
          <a:p>
            <a:pPr indent="-457200" algn="just"/>
            <a:endParaRPr lang="en-IN" sz="1400" dirty="0"/>
          </a:p>
          <a:p>
            <a:pPr indent="-457200" algn="just"/>
            <a:r>
              <a:rPr lang="en-US" sz="1400" dirty="0"/>
              <a:t>[7] P. </a:t>
            </a:r>
            <a:r>
              <a:rPr lang="en-US" sz="1400" dirty="0" err="1"/>
              <a:t>Avgeriou</a:t>
            </a:r>
            <a:r>
              <a:rPr lang="en-US" sz="1400" dirty="0"/>
              <a:t> et al., “Leveraging Generative AI for Architecture Knowledge Management,” IEEE Software, vol. 41, no. 5, pp. 50–58, 2024.</a:t>
            </a:r>
          </a:p>
          <a:p>
            <a:pPr indent="-457200" algn="just"/>
            <a:endParaRPr lang="en-IN" sz="1400" dirty="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19</a:t>
            </a:fld>
            <a:endParaRPr spc="-25" dirty="0"/>
          </a:p>
        </p:txBody>
      </p:sp>
      <p:sp>
        <p:nvSpPr>
          <p:cNvPr id="3" name="object 3"/>
          <p:cNvSpPr txBox="1">
            <a:spLocks noGrp="1"/>
          </p:cNvSpPr>
          <p:nvPr>
            <p:ph type="title"/>
          </p:nvPr>
        </p:nvSpPr>
        <p:spPr>
          <a:xfrm>
            <a:off x="1981200" y="227013"/>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t>References</a:t>
            </a:r>
            <a:endParaRPr sz="4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86514-EC55-90B4-F208-912C5BC831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623EA28-4A47-CC29-16A4-BBE615766528}"/>
              </a:ext>
            </a:extLst>
          </p:cNvPr>
          <p:cNvSpPr txBox="1"/>
          <p:nvPr/>
        </p:nvSpPr>
        <p:spPr>
          <a:xfrm>
            <a:off x="589372" y="1600200"/>
            <a:ext cx="10920003" cy="4321696"/>
          </a:xfrm>
          <a:prstGeom prst="rect">
            <a:avLst/>
          </a:prstGeom>
        </p:spPr>
        <p:txBody>
          <a:bodyPr vert="horz" wrap="square" lIns="0" tIns="12700" rIns="0" bIns="0" rtlCol="0">
            <a:spAutoFit/>
          </a:bodyPr>
          <a:lstStyle/>
          <a:p>
            <a:r>
              <a:rPr lang="en-US" sz="1400" dirty="0"/>
              <a:t>[8] S. Khan et al., “A Two-Phase NLP-Driven Deep Learning Framework for Automated Software Requirements Classification and User Story Generation in Agile Development,” IEEE Access, vol. 11, pp. 1–14, 2023.</a:t>
            </a:r>
          </a:p>
          <a:p>
            <a:endParaRPr lang="en-IN" sz="1400" dirty="0"/>
          </a:p>
          <a:p>
            <a:r>
              <a:rPr lang="en-US" sz="1400" dirty="0"/>
              <a:t>[9] A. Ferrari et al., “Identifying Non-Functional Requirements From Unconstrained Documents Using Natural Language Processing and Machine Learning Approaches,” IEEE Access, vol. 9, pp. 1–15, 2021.</a:t>
            </a:r>
          </a:p>
          <a:p>
            <a:endParaRPr lang="en-IN" sz="1400" dirty="0"/>
          </a:p>
          <a:p>
            <a:r>
              <a:rPr lang="en-US" sz="1400" dirty="0"/>
              <a:t>[10] M. Shahin et al., “An LLM-Assisted Approach to Designing Software Architectures Using ADD,” </a:t>
            </a:r>
            <a:r>
              <a:rPr lang="en-US" sz="1400" dirty="0" err="1"/>
              <a:t>arXiv</a:t>
            </a:r>
            <a:r>
              <a:rPr lang="en-US" sz="1400" dirty="0"/>
              <a:t> preprint arXiv:2506.22688, 2025.</a:t>
            </a:r>
          </a:p>
          <a:p>
            <a:endParaRPr lang="en-IN" sz="1400" dirty="0"/>
          </a:p>
          <a:p>
            <a:r>
              <a:rPr lang="en-US" sz="1400" dirty="0"/>
              <a:t>[11] H. Zhang et al., “</a:t>
            </a:r>
            <a:r>
              <a:rPr lang="en-US" sz="1400" dirty="0" err="1"/>
              <a:t>SpecGen</a:t>
            </a:r>
            <a:r>
              <a:rPr lang="en-US" sz="1400" dirty="0"/>
              <a:t>: Automated Generation of Formal Program Specifications via Large Language Models,” IEEE International Conference on Software Engineering and Knowledge Engineering, pp. 1–8, 2024.</a:t>
            </a:r>
          </a:p>
          <a:p>
            <a:endParaRPr lang="en-IN" sz="1400" dirty="0"/>
          </a:p>
          <a:p>
            <a:r>
              <a:rPr lang="en-US" sz="1400" dirty="0"/>
              <a:t>[12] J. Li et al., “Semantic Modeling of Architecture Decision Records to Enable AI-Based Analysis,” IEEE International Conference on Software Architecture, pp. 1–10, 2024.</a:t>
            </a:r>
          </a:p>
          <a:p>
            <a:endParaRPr lang="en-IN" sz="1400" dirty="0"/>
          </a:p>
          <a:p>
            <a:r>
              <a:rPr lang="en-IN" sz="1400" dirty="0"/>
              <a:t>[13] M. Ahmed et al., “Leveraging RAG and LLMs for Access Control Policy Extraction From User Stories in Agile Software Development,” IEEE International Conference on Software Engineering, pp. 1–10, 2024.</a:t>
            </a:r>
          </a:p>
          <a:p>
            <a:endParaRPr lang="en-IN" sz="1400" dirty="0"/>
          </a:p>
          <a:p>
            <a:r>
              <a:rPr lang="en-US" sz="1400" dirty="0"/>
              <a:t>[14] M. U. Islam et al., “BERT-Based Approach for Greening Software Requirements Engineering Through Non-Functional Requirements,” IEEE Access, vol. 11, pp. 1–15, 2023.</a:t>
            </a:r>
          </a:p>
          <a:p>
            <a:endParaRPr lang="en-IN" sz="1400" dirty="0"/>
          </a:p>
        </p:txBody>
      </p:sp>
      <p:sp>
        <p:nvSpPr>
          <p:cNvPr id="4" name="object 4">
            <a:extLst>
              <a:ext uri="{FF2B5EF4-FFF2-40B4-BE49-F238E27FC236}">
                <a16:creationId xmlns:a16="http://schemas.microsoft.com/office/drawing/2014/main" id="{5F11FD22-8356-82A0-8F69-4E08B95E94E9}"/>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a:extLst>
              <a:ext uri="{FF2B5EF4-FFF2-40B4-BE49-F238E27FC236}">
                <a16:creationId xmlns:a16="http://schemas.microsoft.com/office/drawing/2014/main" id="{73295999-2DF5-2545-1164-FEBE4D26C932}"/>
              </a:ext>
            </a:extLst>
          </p:cNvPr>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a:extLst>
              <a:ext uri="{FF2B5EF4-FFF2-40B4-BE49-F238E27FC236}">
                <a16:creationId xmlns:a16="http://schemas.microsoft.com/office/drawing/2014/main" id="{13897B3D-7A20-1A8F-1A73-59EAE173584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20</a:t>
            </a:fld>
            <a:endParaRPr spc="-25" dirty="0"/>
          </a:p>
        </p:txBody>
      </p:sp>
      <p:sp>
        <p:nvSpPr>
          <p:cNvPr id="3" name="object 3">
            <a:extLst>
              <a:ext uri="{FF2B5EF4-FFF2-40B4-BE49-F238E27FC236}">
                <a16:creationId xmlns:a16="http://schemas.microsoft.com/office/drawing/2014/main" id="{3FE99C9D-BD36-6439-4B00-BB932B256637}"/>
              </a:ext>
            </a:extLst>
          </p:cNvPr>
          <p:cNvSpPr txBox="1">
            <a:spLocks noGrp="1"/>
          </p:cNvSpPr>
          <p:nvPr>
            <p:ph type="title"/>
          </p:nvPr>
        </p:nvSpPr>
        <p:spPr>
          <a:xfrm>
            <a:off x="1981200" y="227013"/>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t>References</a:t>
            </a:r>
            <a:endParaRPr sz="4400"/>
          </a:p>
        </p:txBody>
      </p:sp>
    </p:spTree>
    <p:extLst>
      <p:ext uri="{BB962C8B-B14F-4D97-AF65-F5344CB8AC3E}">
        <p14:creationId xmlns:p14="http://schemas.microsoft.com/office/powerpoint/2010/main" val="2450452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E0C45-5A11-296B-2222-0485AA0881C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46E2F9-E27A-5315-205D-64896F1E7F72}"/>
              </a:ext>
            </a:extLst>
          </p:cNvPr>
          <p:cNvSpPr txBox="1"/>
          <p:nvPr/>
        </p:nvSpPr>
        <p:spPr>
          <a:xfrm>
            <a:off x="589372" y="1600200"/>
            <a:ext cx="10920003" cy="4537139"/>
          </a:xfrm>
          <a:prstGeom prst="rect">
            <a:avLst/>
          </a:prstGeom>
        </p:spPr>
        <p:txBody>
          <a:bodyPr vert="horz" wrap="square" lIns="0" tIns="12700" rIns="0" bIns="0" rtlCol="0">
            <a:spAutoFit/>
          </a:bodyPr>
          <a:lstStyle/>
          <a:p>
            <a:r>
              <a:rPr lang="en-US" sz="1400" dirty="0"/>
              <a:t>[15] L. Zhao et al., “The Use of NLP-Based Text Representation Techniques to Support Requirement Engineering Tasks: A Systematic Mapping Review,” IEEE Access, vol. 10, pp. 1–20, 2022.</a:t>
            </a:r>
          </a:p>
          <a:p>
            <a:endParaRPr lang="en-IN" sz="1400" dirty="0"/>
          </a:p>
          <a:p>
            <a:r>
              <a:rPr lang="en-US" sz="1400" dirty="0"/>
              <a:t>[16] S. Rahman et al., “A Review of AI-Assisted Impact Analysis for Software Requirements Change: Challenges and Future Directions,” IEEE Access, vol. 12, pp. 1–20, 2024.</a:t>
            </a:r>
          </a:p>
          <a:p>
            <a:endParaRPr lang="en-IN" sz="1400" dirty="0"/>
          </a:p>
          <a:p>
            <a:r>
              <a:rPr lang="en-US" sz="1400" dirty="0"/>
              <a:t>[17] B. Gorer and F. B. Aydemir, “Generating Requirements Elicitation Interview Scripts with Large Language Models,” IEEE International Requirements Engineering Conference Workshops (REW), pp. 44–51, 2023.</a:t>
            </a:r>
          </a:p>
          <a:p>
            <a:endParaRPr lang="en-IN" sz="1400" dirty="0"/>
          </a:p>
          <a:p>
            <a:r>
              <a:rPr lang="en-US" sz="1400" dirty="0"/>
              <a:t>[18] K. </a:t>
            </a:r>
            <a:r>
              <a:rPr lang="en-US" sz="1400" dirty="0" err="1"/>
              <a:t>Ronanki</a:t>
            </a:r>
            <a:r>
              <a:rPr lang="en-US" sz="1400" dirty="0"/>
              <a:t>, C. Berger and J. </a:t>
            </a:r>
            <a:r>
              <a:rPr lang="en-US" sz="1400" dirty="0" err="1"/>
              <a:t>Horkoff</a:t>
            </a:r>
            <a:r>
              <a:rPr lang="en-US" sz="1400" dirty="0"/>
              <a:t>, “Investigating ChatGPT’s Potential to Assist in Requirements Elicitation Processes,” IEEE 49th </a:t>
            </a:r>
            <a:r>
              <a:rPr lang="en-US" sz="1400" dirty="0" err="1"/>
              <a:t>Euromicro</a:t>
            </a:r>
            <a:r>
              <a:rPr lang="en-US" sz="1400" dirty="0"/>
              <a:t> Conference on Software Engineering and Advanced Applications (SEAA), pp. 354–361, 2023.</a:t>
            </a:r>
          </a:p>
          <a:p>
            <a:endParaRPr lang="en-IN" sz="1400" dirty="0"/>
          </a:p>
          <a:p>
            <a:r>
              <a:rPr lang="en-US" sz="1400" dirty="0"/>
              <a:t>[19] K. Mich et al., “Automatic Generation of a Software Requirements Specification (SRS) Document,” IEEE International Conference on Computer Systems and Applications, pp. 1–6, 2011.</a:t>
            </a:r>
          </a:p>
          <a:p>
            <a:endParaRPr lang="en-IN" sz="1400" dirty="0"/>
          </a:p>
          <a:p>
            <a:r>
              <a:rPr lang="en-US" sz="1400" dirty="0"/>
              <a:t>[20] W. Li et al., “Automated Classification and Identification of Non-Functional Requirements in Agile-Based Requirements Using Pre-Trained Language Models,” IEEE Access, vol. 12, pp. 1–15, 2024.</a:t>
            </a:r>
          </a:p>
          <a:p>
            <a:endParaRPr lang="en-IN" sz="1400" dirty="0"/>
          </a:p>
          <a:p>
            <a:r>
              <a:rPr lang="en-US" sz="1400" dirty="0"/>
              <a:t>[21] A. </a:t>
            </a:r>
            <a:r>
              <a:rPr lang="en-US" sz="1400" dirty="0" err="1"/>
              <a:t>Spoletini</a:t>
            </a:r>
            <a:r>
              <a:rPr lang="en-US" sz="1400" dirty="0"/>
              <a:t> et al., “Automated Extraction of Conceptual Models from User Stories via Natural Language Processing,” IEEE International Conference on Requirements Engineering, pp. 1–10, 2016.</a:t>
            </a:r>
          </a:p>
          <a:p>
            <a:pPr indent="-457200" algn="just"/>
            <a:endParaRPr lang="en-US" sz="1400" dirty="0">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FDC096C6-134B-AD16-0EB3-2A43D5C6A007}"/>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6/3/2026</a:t>
            </a:r>
          </a:p>
        </p:txBody>
      </p:sp>
      <p:sp>
        <p:nvSpPr>
          <p:cNvPr id="5" name="object 5">
            <a:extLst>
              <a:ext uri="{FF2B5EF4-FFF2-40B4-BE49-F238E27FC236}">
                <a16:creationId xmlns:a16="http://schemas.microsoft.com/office/drawing/2014/main" id="{0208683F-2604-27D6-0E92-F2E9D64FFF67}"/>
              </a:ext>
            </a:extLst>
          </p:cNvPr>
          <p:cNvSpPr txBox="1">
            <a:spLocks noGrp="1"/>
          </p:cNvSpPr>
          <p:nvPr>
            <p:ph type="ftr" sz="quarter" idx="5"/>
          </p:nvPr>
        </p:nvSpPr>
        <p:spPr>
          <a:xfrm>
            <a:off x="5545547" y="6445272"/>
            <a:ext cx="1101090" cy="179536"/>
          </a:xfrm>
          <a:prstGeom prst="rect">
            <a:avLst/>
          </a:prstGeom>
        </p:spPr>
        <p:txBody>
          <a:bodyPr vert="horz" wrap="square" lIns="0" tIns="0" rIns="0" bIns="0" rtlCol="0">
            <a:spAutoFit/>
          </a:bodyPr>
          <a:lstStyle/>
          <a:p>
            <a:pPr marL="12700">
              <a:lnSpc>
                <a:spcPts val="1410"/>
              </a:lnSpc>
            </a:pPr>
            <a:r>
              <a:rPr dirty="0"/>
              <a:t>BMSIT&amp;M, </a:t>
            </a:r>
            <a:r>
              <a:rPr lang="en-IN" spc="-25" dirty="0"/>
              <a:t>I</a:t>
            </a:r>
            <a:r>
              <a:rPr spc="-25" dirty="0"/>
              <a:t>SE</a:t>
            </a:r>
          </a:p>
        </p:txBody>
      </p:sp>
      <p:sp>
        <p:nvSpPr>
          <p:cNvPr id="6" name="object 6">
            <a:extLst>
              <a:ext uri="{FF2B5EF4-FFF2-40B4-BE49-F238E27FC236}">
                <a16:creationId xmlns:a16="http://schemas.microsoft.com/office/drawing/2014/main" id="{5583DCF0-40B3-5423-AC7B-BA99359D47B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21</a:t>
            </a:fld>
            <a:endParaRPr spc="-25" dirty="0"/>
          </a:p>
        </p:txBody>
      </p:sp>
      <p:sp>
        <p:nvSpPr>
          <p:cNvPr id="3" name="object 3">
            <a:extLst>
              <a:ext uri="{FF2B5EF4-FFF2-40B4-BE49-F238E27FC236}">
                <a16:creationId xmlns:a16="http://schemas.microsoft.com/office/drawing/2014/main" id="{68EAA6FB-B362-EA12-FB9D-55EF6E4A0BDB}"/>
              </a:ext>
            </a:extLst>
          </p:cNvPr>
          <p:cNvSpPr txBox="1">
            <a:spLocks noGrp="1"/>
          </p:cNvSpPr>
          <p:nvPr>
            <p:ph type="title"/>
          </p:nvPr>
        </p:nvSpPr>
        <p:spPr>
          <a:xfrm>
            <a:off x="1981200" y="227013"/>
            <a:ext cx="8229600" cy="1143000"/>
          </a:xfrm>
          <a:prstGeom prst="rect">
            <a:avLst/>
          </a:prstGeom>
          <a:solidFill>
            <a:srgbClr val="DAE4F1"/>
          </a:solidFill>
          <a:ln w="19049">
            <a:solidFill>
              <a:srgbClr val="632423"/>
            </a:solidFill>
          </a:ln>
        </p:spPr>
        <p:txBody>
          <a:bodyPr vert="horz" wrap="square" lIns="0" tIns="213360" rIns="0" bIns="0" rtlCol="0">
            <a:spAutoFit/>
          </a:bodyPr>
          <a:lstStyle/>
          <a:p>
            <a:pPr algn="ctr">
              <a:lnSpc>
                <a:spcPct val="100000"/>
              </a:lnSpc>
              <a:spcBef>
                <a:spcPts val="1680"/>
              </a:spcBef>
            </a:pPr>
            <a:r>
              <a:rPr sz="4400" spc="-10" dirty="0"/>
              <a:t>References</a:t>
            </a:r>
            <a:endParaRPr sz="4400"/>
          </a:p>
        </p:txBody>
      </p:sp>
    </p:spTree>
    <p:extLst>
      <p:ext uri="{BB962C8B-B14F-4D97-AF65-F5344CB8AC3E}">
        <p14:creationId xmlns:p14="http://schemas.microsoft.com/office/powerpoint/2010/main" val="2372105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560</TotalTime>
  <Words>2856</Words>
  <Application>Microsoft Office PowerPoint</Application>
  <PresentationFormat>Widescreen</PresentationFormat>
  <Paragraphs>345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Cambria</vt:lpstr>
      <vt:lpstr>Roboto</vt:lpstr>
      <vt:lpstr>Times New Roman</vt:lpstr>
      <vt:lpstr>Wingdings</vt:lpstr>
      <vt:lpstr>Office Theme</vt:lpstr>
      <vt:lpstr>Department of Information Science and Engineering</vt:lpstr>
      <vt:lpstr>Problem Statement</vt:lpstr>
      <vt:lpstr>Motivation</vt:lpstr>
      <vt:lpstr>Literature Survey (Tabular column)</vt:lpstr>
      <vt:lpstr>Literature Survey (Tabular column)</vt:lpstr>
      <vt:lpstr>Literature Survey (Tabular column)</vt:lpstr>
      <vt:lpstr>Literature Survey(Summary)</vt:lpstr>
      <vt:lpstr>Research Gap Identified</vt:lpstr>
      <vt:lpstr>Proposed System</vt:lpstr>
      <vt:lpstr>Objectives</vt:lpstr>
      <vt:lpstr>PowerPoint Presentation</vt:lpstr>
      <vt:lpstr>Methodology</vt:lpstr>
      <vt:lpstr>Tools and Technologies</vt:lpstr>
      <vt:lpstr>Feasibility Study</vt:lpstr>
      <vt:lpstr>PowerPoint Presentation</vt:lpstr>
      <vt:lpstr>PowerPoint Presentation</vt:lpstr>
      <vt:lpstr>Work Plan (Timeline)</vt:lpstr>
      <vt:lpstr>Work Plan (Timeline)</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Major_Project_Phase1_Review_Template-2.pptx</dc:title>
  <dc:creator>SUPRIYA GOUDA</dc:creator>
  <cp:lastModifiedBy>Supriya gouda</cp:lastModifiedBy>
  <cp:revision>40</cp:revision>
  <cp:lastPrinted>2026-03-06T00:52:54Z</cp:lastPrinted>
  <dcterms:created xsi:type="dcterms:W3CDTF">2026-03-05T06:52:14Z</dcterms:created>
  <dcterms:modified xsi:type="dcterms:W3CDTF">2026-03-06T03:14:27Z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2026-03-05T00:00:00Z</vt:filetime>
  </property>
  <property fmtid="{D5CDD505-2E9C-101B-9397-08002B2CF9AE}" pid="3" name="Creator">
    <vt:lpwstr>Google</vt:lpwstr>
  </property>
  <property fmtid="{D5CDD505-2E9C-101B-9397-08002B2CF9AE}" pid="4" name="LastSaved">
    <vt:filetime>2026-03-05T00:00:00Z</vt:filetime>
  </property>
</Properties>
</file>